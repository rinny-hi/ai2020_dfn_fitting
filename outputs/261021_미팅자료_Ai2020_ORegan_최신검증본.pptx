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603d1aa024616" /><Relationship Type="http://schemas.openxmlformats.org/officeDocument/2006/relationships/extended-properties" Target="/docProps/app.xml" Id="R585b36d72f6a4a1c" /><Relationship Type="http://schemas.openxmlformats.org/officeDocument/2006/relationships/officeDocument" Target="/ppt/presentation.xml" Id="Rdb3e28a9affa4cd9" /></Relationships>
</file>

<file path=ppt/presentation.xml><?xml version="1.0" encoding="utf-8"?>
<p:presentation xmlns:p="http://schemas.openxmlformats.org/presentationml/2006/main" firstSlideNum="0" embedTrueTypeFonts="1" saveSubsetFonts="0">
  <p:sldMasterIdLst>
    <p:sldMasterId xmlns:r="http://schemas.openxmlformats.org/officeDocument/2006/relationships" id="2147483648" r:id="Rc0b09aef45514860"/>
    <p:sldMasterId xmlns:r="http://schemas.openxmlformats.org/officeDocument/2006/relationships" id="2147483651" r:id="R279cb50b56654a50"/>
  </p:sldMasterIdLst>
  <p:notesMasterIdLst>
    <p:notesMasterId xmlns:r="http://schemas.openxmlformats.org/officeDocument/2006/relationships" r:id="Rce194f2922694674"/>
  </p:notesMasterIdLst>
  <p:sldIdLst>
    <p:sldId xmlns:r="http://schemas.openxmlformats.org/officeDocument/2006/relationships" id="256" r:id="R24d44c6af6eb404c"/>
    <p:sldId xmlns:r="http://schemas.openxmlformats.org/officeDocument/2006/relationships" id="257" r:id="R9abe417f98ce49a8"/>
    <p:sldId xmlns:r="http://schemas.openxmlformats.org/officeDocument/2006/relationships" id="258" r:id="R1f92dfdd6cbf400b"/>
    <p:sldId xmlns:r="http://schemas.openxmlformats.org/officeDocument/2006/relationships" id="259" r:id="R9bbd529f837949e4"/>
    <p:sldId xmlns:r="http://schemas.openxmlformats.org/officeDocument/2006/relationships" id="260" r:id="Red024cf80bba4abe"/>
    <p:sldId xmlns:r="http://schemas.openxmlformats.org/officeDocument/2006/relationships" id="261" r:id="Rd5ad3fef51bf4c67"/>
    <p:sldId xmlns:r="http://schemas.openxmlformats.org/officeDocument/2006/relationships" id="262" r:id="R7c666074d5e74fb0"/>
    <p:sldId xmlns:r="http://schemas.openxmlformats.org/officeDocument/2006/relationships" id="263" r:id="R5db636e401714e7b"/>
    <p:sldId xmlns:r="http://schemas.openxmlformats.org/officeDocument/2006/relationships" id="264" r:id="R231f10c4268c453b"/>
    <p:sldId xmlns:r="http://schemas.openxmlformats.org/officeDocument/2006/relationships" id="265" r:id="R906553dedc594ca8"/>
    <p:sldId xmlns:r="http://schemas.openxmlformats.org/officeDocument/2006/relationships" id="266" r:id="R9eb316ae7c2c4313"/>
    <p:sldId xmlns:r="http://schemas.openxmlformats.org/officeDocument/2006/relationships" id="267" r:id="R84315903835e4df6"/>
    <p:sldId xmlns:r="http://schemas.openxmlformats.org/officeDocument/2006/relationships" id="268" r:id="R88d7c1c7588043d0"/>
    <p:sldId xmlns:r="http://schemas.openxmlformats.org/officeDocument/2006/relationships" id="269" r:id="Rdb606be42fbd4ed5"/>
    <p:sldId xmlns:r="http://schemas.openxmlformats.org/officeDocument/2006/relationships" id="270" r:id="Rf3734a4f46894a78"/>
    <p:sldId xmlns:r="http://schemas.openxmlformats.org/officeDocument/2006/relationships" id="271" r:id="Rcb22fc366bc54a42"/>
    <p:sldId xmlns:r="http://schemas.openxmlformats.org/officeDocument/2006/relationships" id="272" r:id="R2a45c699c2074e1d"/>
    <p:sldId xmlns:r="http://schemas.openxmlformats.org/officeDocument/2006/relationships" id="273" r:id="Rc395b24d4b6f4402"/>
    <p:sldId xmlns:r="http://schemas.openxmlformats.org/officeDocument/2006/relationships" id="274" r:id="Rdd6d7fedf345472f"/>
    <p:sldId xmlns:r="http://schemas.openxmlformats.org/officeDocument/2006/relationships" id="275" r:id="Rd3dff34333394966"/>
    <p:sldId xmlns:r="http://schemas.openxmlformats.org/officeDocument/2006/relationships" id="276" r:id="Rfe920dfa67ce4773"/>
  </p:sldIdLst>
  <p:sldSz cx="9906000" cy="6858000"/>
  <p:notesSz cx="6858000" cy="9144000"/>
  <p:embeddedFontLst>
    <p:embeddedFont>
      <p:font typeface="Cambria Math"/>
      <p:regular xmlns:r="http://schemas.openxmlformats.org/officeDocument/2006/relationships" r:id="Rb01f504ee77e44d1"/>
    </p:embeddedFont>
    <p:embeddedFont>
      <p:font typeface="Noto Sans KR Medium"/>
      <p:regular xmlns:r="http://schemas.openxmlformats.org/officeDocument/2006/relationships" r:id="Rccadbed4dd014045"/>
    </p:embeddedFont>
    <p:embeddedFont>
      <p:font typeface="Pretendard"/>
      <p:regular xmlns:r="http://schemas.openxmlformats.org/officeDocument/2006/relationships" r:id="R60d41f4a31fb41a9"/>
      <p:bold xmlns:r="http://schemas.openxmlformats.org/officeDocument/2006/relationships" r:id="R0e8298fd69f8436d"/>
    </p:embeddedFont>
    <p:embeddedFont>
      <p:font typeface="Pretendard Light"/>
      <p:regular xmlns:r="http://schemas.openxmlformats.org/officeDocument/2006/relationships" r:id="Rb54a45835b72430b"/>
    </p:embeddedFont>
    <p:embeddedFont>
      <p:font typeface="맑은 고딕"/>
      <p:regular xmlns:r="http://schemas.openxmlformats.org/officeDocument/2006/relationships" r:id="R5037df4955a84e47"/>
      <p:bold xmlns:r="http://schemas.openxmlformats.org/officeDocument/2006/relationships" r:id="R6129621893654c77"/>
    </p:embeddedFont>
  </p:embeddedFontLst>
  <p:defaultTextStyle>
    <a:defPPr xmlns:a="http://schemas.openxmlformats.org/drawingml/2006/main">
      <a:buNone/>
    </a:defPPr>
    <a:lvl1pPr xmlns:a="http://schemas.openxmlformats.org/drawingml/2006/main" algn="l">
      <a:spcBef>
        <a:spcPct val="0"/>
      </a:spcBef>
      <a:spcAft>
        <a:spcPct val="0"/>
      </a:spcAft>
      <a:buNone/>
      <a:defRPr sz="20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>
      <a:spcBef>
        <a:spcPct val="0"/>
      </a:spcBef>
      <a:spcAft>
        <a:spcPct val="0"/>
      </a:spcAft>
      <a:buNone/>
      <a:defRPr sz="20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>
      <a:spcBef>
        <a:spcPct val="0"/>
      </a:spcBef>
      <a:spcAft>
        <a:spcPct val="0"/>
      </a:spcAft>
      <a:buNone/>
      <a:defRPr sz="20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>
      <a:spcBef>
        <a:spcPct val="0"/>
      </a:spcBef>
      <a:spcAft>
        <a:spcPct val="0"/>
      </a:spcAft>
      <a:buNone/>
      <a:defRPr sz="20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>
      <a:spcBef>
        <a:spcPct val="0"/>
      </a:spcBef>
      <a:spcAft>
        <a:spcPct val="0"/>
      </a:spcAft>
      <a:buNone/>
      <a:defRPr sz="20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buNone/>
      <a:defRPr sz="20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buNone/>
      <a:defRPr sz="20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buNone/>
      <a:defRPr sz="20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buNone/>
      <a:defRPr sz="20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6466C05F-36C7-5BB3-DFBC-61A452B64BDD}" name="Minsu Kim" initials="MK" userId="S::mskim77@mit.edu::37d8673c-cd00-4354-8e50-85d13eedb982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6c3ce8b9f4622" /><Relationship Type="http://schemas.openxmlformats.org/officeDocument/2006/relationships/slideMaster" Target="/ppt/slideMasters/slideMaster1.xml" Id="Rc0b09aef45514860" /><Relationship Type="http://schemas.openxmlformats.org/officeDocument/2006/relationships/slideMaster" Target="/ppt/slideMasters/slideMaster2.xml" Id="R279cb50b56654a50" /><Relationship Type="http://schemas.openxmlformats.org/officeDocument/2006/relationships/notesMaster" Target="/ppt/notesMasters/notesMaster1.xml" Id="Rce194f2922694674" /><Relationship Type="http://schemas.openxmlformats.org/officeDocument/2006/relationships/presProps" Target="/ppt/presProps.xml" Id="R2709fbf1e9214d9a" /><Relationship Type="http://schemas.openxmlformats.org/officeDocument/2006/relationships/viewProps" Target="/ppt/viewProps.xml" Id="R5caaa01b987d49b7" /><Relationship Type="http://schemas.openxmlformats.org/officeDocument/2006/relationships/tableStyles" Target="/ppt/tableStyles.xml" Id="R1a971cb9d5874023" /><Relationship Type="http://schemas.openxmlformats.org/officeDocument/2006/relationships/font" Target="/ppt/fonts/font.dat" Id="Rb01f504ee77e44d1" /><Relationship Type="http://schemas.openxmlformats.org/officeDocument/2006/relationships/font" Target="/ppt/fonts/font2.dat" Id="Rccadbed4dd014045" /><Relationship Type="http://schemas.openxmlformats.org/officeDocument/2006/relationships/font" Target="/ppt/fonts/font3.dat" Id="R60d41f4a31fb41a9" /><Relationship Type="http://schemas.openxmlformats.org/officeDocument/2006/relationships/font" Target="/ppt/fonts/font4.dat" Id="R0e8298fd69f8436d" /><Relationship Type="http://schemas.openxmlformats.org/officeDocument/2006/relationships/font" Target="/ppt/fonts/font5.dat" Id="Rb54a45835b72430b" /><Relationship Type="http://schemas.openxmlformats.org/officeDocument/2006/relationships/font" Target="/ppt/fonts/font6.dat" Id="R5037df4955a84e47" /><Relationship Type="http://schemas.openxmlformats.org/officeDocument/2006/relationships/font" Target="/ppt/fonts/font7.dat" Id="R6129621893654c77" /><Relationship Type="http://schemas.microsoft.com/office/2018/10/relationships/authors" Target="/ppt/authors.xml" Id="Rc1fb9ac5f8384426" /><Relationship Type="http://schemas.openxmlformats.org/officeDocument/2006/relationships/slide" Target="/ppt/slides/slide1.xml" Id="R24d44c6af6eb404c" /><Relationship Type="http://schemas.openxmlformats.org/officeDocument/2006/relationships/slide" Target="/ppt/slides/slide2.xml" Id="R9abe417f98ce49a8" /><Relationship Type="http://schemas.openxmlformats.org/officeDocument/2006/relationships/slide" Target="/ppt/slides/slide3.xml" Id="R1f92dfdd6cbf400b" /><Relationship Type="http://schemas.openxmlformats.org/officeDocument/2006/relationships/slide" Target="/ppt/slides/slide4.xml" Id="R9bbd529f837949e4" /><Relationship Type="http://schemas.openxmlformats.org/officeDocument/2006/relationships/slide" Target="/ppt/slides/slide5.xml" Id="Red024cf80bba4abe" /><Relationship Type="http://schemas.openxmlformats.org/officeDocument/2006/relationships/slide" Target="/ppt/slides/slide6.xml" Id="Rd5ad3fef51bf4c67" /><Relationship Type="http://schemas.openxmlformats.org/officeDocument/2006/relationships/slide" Target="/ppt/slides/slide7.xml" Id="R7c666074d5e74fb0" /><Relationship Type="http://schemas.openxmlformats.org/officeDocument/2006/relationships/slide" Target="/ppt/slides/slide8.xml" Id="R5db636e401714e7b" /><Relationship Type="http://schemas.openxmlformats.org/officeDocument/2006/relationships/slide" Target="/ppt/slides/slide9.xml" Id="R231f10c4268c453b" /><Relationship Type="http://schemas.openxmlformats.org/officeDocument/2006/relationships/slide" Target="/ppt/slides/slide10.xml" Id="R906553dedc594ca8" /><Relationship Type="http://schemas.openxmlformats.org/officeDocument/2006/relationships/slide" Target="/ppt/slides/slide11.xml" Id="R9eb316ae7c2c4313" /><Relationship Type="http://schemas.openxmlformats.org/officeDocument/2006/relationships/slide" Target="/ppt/slides/slide12.xml" Id="R84315903835e4df6" /><Relationship Type="http://schemas.openxmlformats.org/officeDocument/2006/relationships/slide" Target="/ppt/slides/slide13.xml" Id="R88d7c1c7588043d0" /><Relationship Type="http://schemas.openxmlformats.org/officeDocument/2006/relationships/slide" Target="/ppt/slides/slide14.xml" Id="Rdb606be42fbd4ed5" /><Relationship Type="http://schemas.openxmlformats.org/officeDocument/2006/relationships/slide" Target="/ppt/slides/slide15.xml" Id="Rf3734a4f46894a78" /><Relationship Type="http://schemas.openxmlformats.org/officeDocument/2006/relationships/slide" Target="/ppt/slides/slide16.xml" Id="Rcb22fc366bc54a42" /><Relationship Type="http://schemas.openxmlformats.org/officeDocument/2006/relationships/slide" Target="/ppt/slides/slide17.xml" Id="R2a45c699c2074e1d" /><Relationship Type="http://schemas.openxmlformats.org/officeDocument/2006/relationships/slide" Target="/ppt/slides/slide18.xml" Id="Rc395b24d4b6f4402" /><Relationship Type="http://schemas.openxmlformats.org/officeDocument/2006/relationships/slide" Target="/ppt/slides/slide19.xml" Id="Rdd6d7fedf345472f" /><Relationship Type="http://schemas.openxmlformats.org/officeDocument/2006/relationships/slide" Target="/ppt/slides/slide20.xml" Id="Rd3dff34333394966" /><Relationship Type="http://schemas.openxmlformats.org/officeDocument/2006/relationships/slide" Target="/ppt/slides/slide21.xml" Id="Rfe920dfa67ce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73ea28bf5a8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aaa1b226f43be" /><Relationship Type="http://schemas.openxmlformats.org/officeDocument/2006/relationships/notesMaster" Target="/ppt/notesMasters/notesMaster1.xml" Id="Ra82a4c970aad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30a8679cd4aa9" /><Relationship Type="http://schemas.openxmlformats.org/officeDocument/2006/relationships/notesMaster" Target="/ppt/notesMasters/notesMaster1.xml" Id="Rb7aa675a5946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9908db1fcc41c1" /><Relationship Type="http://schemas.openxmlformats.org/officeDocument/2006/relationships/notesMaster" Target="/ppt/notesMasters/notesMaster1.xml" Id="R814d6d8bfeeb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3d647f090d40b1" /><Relationship Type="http://schemas.openxmlformats.org/officeDocument/2006/relationships/notesMaster" Target="/ppt/notesMasters/notesMaster1.xml" Id="Rcb36f380dbc6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e177f31e5f4fce" /><Relationship Type="http://schemas.openxmlformats.org/officeDocument/2006/relationships/notesMaster" Target="/ppt/notesMasters/notesMaster1.xml" Id="R468d39a872db45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2866df8abb42e9" /><Relationship Type="http://schemas.openxmlformats.org/officeDocument/2006/relationships/notesMaster" Target="/ppt/notesMasters/notesMaster1.xml" Id="R1b7d06289a26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17e7348d4d49e3" /><Relationship Type="http://schemas.openxmlformats.org/officeDocument/2006/relationships/notesMaster" Target="/ppt/notesMasters/notesMaster1.xml" Id="R6578e0f3e1fe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0191db8e9484a" /><Relationship Type="http://schemas.openxmlformats.org/officeDocument/2006/relationships/notesMaster" Target="/ppt/notesMasters/notesMaster1.xml" Id="R1d03fa89b1d840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2fba593834442" /><Relationship Type="http://schemas.openxmlformats.org/officeDocument/2006/relationships/notesMaster" Target="/ppt/notesMasters/notesMaster1.xml" Id="Rf44e92ee6c1549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11ad819a3543c1" /><Relationship Type="http://schemas.openxmlformats.org/officeDocument/2006/relationships/notesMaster" Target="/ppt/notesMasters/notesMaster1.xml" Id="R770c65532a9e4a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a276ccaaa4708" /><Relationship Type="http://schemas.openxmlformats.org/officeDocument/2006/relationships/notesMaster" Target="/ppt/notesMasters/notesMaster1.xml" Id="R292fe5180a14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2ebe2675444e7" /><Relationship Type="http://schemas.openxmlformats.org/officeDocument/2006/relationships/notesMaster" Target="/ppt/notesMasters/notesMaster1.xml" Id="R65f3454794f141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202cb394c5470f" /><Relationship Type="http://schemas.openxmlformats.org/officeDocument/2006/relationships/notesMaster" Target="/ppt/notesMasters/notesMaster1.xml" Id="Refce15f511a8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840457a7544b4e" /><Relationship Type="http://schemas.openxmlformats.org/officeDocument/2006/relationships/notesMaster" Target="/ppt/notesMasters/notesMaster1.xml" Id="Rda991a6e913544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17cc0eca814244" /><Relationship Type="http://schemas.openxmlformats.org/officeDocument/2006/relationships/notesMaster" Target="/ppt/notesMasters/notesMaster1.xml" Id="R27d5f208b0a24a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ed2eb7568240e8" /><Relationship Type="http://schemas.openxmlformats.org/officeDocument/2006/relationships/notesMaster" Target="/ppt/notesMasters/notesMaster1.xml" Id="Rd62f5bf4308343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be22f74ffc43f8" /><Relationship Type="http://schemas.openxmlformats.org/officeDocument/2006/relationships/notesMaster" Target="/ppt/notesMasters/notesMaster1.xml" Id="R3e3fe9070e9248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d64dd6b0f442b4" /><Relationship Type="http://schemas.openxmlformats.org/officeDocument/2006/relationships/notesMaster" Target="/ppt/notesMasters/notesMaster1.xml" Id="Rae19a0b2622149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34fd54a02147b6" /><Relationship Type="http://schemas.openxmlformats.org/officeDocument/2006/relationships/notesMaster" Target="/ppt/notesMasters/notesMaster1.xml" Id="Rafbc2bc5c9ae49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b76fe03b6f4d2e" /><Relationship Type="http://schemas.openxmlformats.org/officeDocument/2006/relationships/notesMaster" Target="/ppt/notesMasters/notesMaster1.xml" Id="R351a623dbe6b4d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481be176654ec3" /><Relationship Type="http://schemas.openxmlformats.org/officeDocument/2006/relationships/notesMaster" Target="/ppt/notesMasters/notesMaster1.xml" Id="R2623df5bd3c5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C/50 qOCV와 GITT rest OCP 기반. 두 음극 OCP는 비교 후보. 현 선택은 Ai2020 graphite OCP. c_s,max는 각 window와 Q_cell=2.356528 Ah로 계산. 출처: 최종 간결본 및 Stage 1 노트북.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Cell 6-6 초기 RPT, 0.5/1/2C. A k_n=6.307602e-7 b_n=2.914; B same k_n b_n=2.5; C k_n=9.702793e-7 b_n=2.5. All stages use latest k_p=4.768216e-7. D_s from GITT, electrolyte bulk from ORegan2022. Exact data: ORegan2022_Ai2020_최종_3단계_조건별_RMSE_MAE.csv.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COBRAPRO 자료와 Stage2_seven_parameter_sensitivity_identifiability.png 기반. 7개 후보와 3개 Bruggeman 계수 포함. 현재 1변수 objective: 140 fixed time points/rate to 98% experimental end; separate 20 early cutoff penalty terms/rate of 300 mV*shortfall fraction. This penalty is heuristic, not uncertainty-calibrated. SciPy bounded scalar: https://docs.scipy.org/doc/scipy/reference/optimize.minimize_scalar-bounded.html ; PyBOP: https://github.com/pybop-team/PyBOP.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Black=experiment; orange=selected DFN. Charge 0.5/1/2C fitted, discharge 0.5/1/2C held out. Rate aggregation is RMS across three branch RMSE values, not pooled point RMSE. Final per-rate metrics on slide 12.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Negative electrode surface potential difference at separator interface. 1C min -3.3335 mV at ~80.1% SoC; below zero ~79.0-80.1%. Mesh 15 to 25 points: -3.334 to -3.332 mV. 2C reaches only ~61.1% SoC. No reference electrode or plating measurement.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from ORegan2022_Ai2020_최종_3단계_조건별_RMSE_MAE.csv. Metrics on common elapsed-time segment. Central actual full-cell SoC by experimental capacity. 2C charge stops before 70%; central 10.84–59.22% only. Early cutoff separately reflected in capacity error.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A2 slide had typographic omission 2.35628 for 2.356528 Ah. Current window obtained from latest C/50 qOCV fit. F=96485.33212 C/mol. Source: final compact notebook, Anode_DRT_Rct_local_minimum_계산요약.md.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k_p=4.768215585284518e-7 in all A/B/C calculations. Derived from cathode Rct 25.387 Ω cm2 and current stoichiometry / c_s,max. Old 10/20 joint-fit k_p=5.899520e-7 only for historical restoration. See ORegan2022_Ai2020_최종결과_방법검토.md.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50% SOC N4/LF=0.2861 Hz; N3/N4=5.0447 Hz; N2/N3=86.4315 Hz. Rct=27.0009 Ωcm2, j0=0.2509 A/m2. N3+N4 from original DRT gamma over d ln f; smoothing only for local minima. See outputs/Anode_DRT_Rct_local_minimum_계산요약.md.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ORegan et al. 2022 original parameter set targets LG M50 NMC/Si-graphite; only electrolyte bulk transport functions were transferred. Past-vs-current methodology: ORegan2022_과거현재_방식_파라미터_차이.md. Objective: fixed time voltage samples (140 per rate, to 98% experimental end) and 20 separate early-cutoff terms/rate. SciPy bounded scalar official docs https://docs.scipy.org/doc/scipy/reference/optimize.minimize_scalar-bounded.html. PyBOP architecture https://github.com/pybop-team/PyBOP.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Old 10/20 model: joint six-curve fit with k_n=8.726541e-7, b_n=2.533583, k_p=5.899520e-7, r_n=3.7542 µm. Current: charge-only fit k_n=9.702793e-7, b_n=2.5, k_p=4.768216e-7, r_n=3.692 µm. Same OCP family and electrolyte. Changes cannot be attributed to one parameter alone. See ORegan2022_과거현재_방식_파라미터_차이.md and contribution 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ae402d53a4c73" /><Relationship Type="http://schemas.openxmlformats.org/officeDocument/2006/relationships/image" Target="/ppt/media/image.png" Id="Ra06ea84a457c43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83f12863f4101" /><Relationship Type="http://schemas.openxmlformats.org/officeDocument/2006/relationships/image" Target="/ppt/media/image.png" Id="R3cb1e0b74e214c16" /><Relationship Type="http://schemas.openxmlformats.org/officeDocument/2006/relationships/image" Target="/ppt/media/image.jpeg" Id="Rfe9d41dbba364b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5a97032b25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b31c3e209a45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8916ee06b54354" /><Relationship Type="http://schemas.openxmlformats.org/officeDocument/2006/relationships/image" Target="/ppt/media/image.png" Id="R4a79002ed1a543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8ec96c74df4dca" /></Relationships>
</file>

<file path=ppt/slideLayouts/slideLayout1.xml><?xml version="1.0" encoding="utf-8"?>
<p:sldLayout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46">
            <a:extLst xmlns:a="http://schemas.openxmlformats.org/drawingml/2006/main">
              <a:ext uri="{FF2B5EF4-FFF2-40B4-BE49-F238E27FC236}">
                <a16:creationId xmlns:a16="http://schemas.microsoft.com/office/drawing/2014/main" id="{8D43C633-2DEF-487B-890C-FCAF7C4D3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ea84a457c43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8637" y="5997798"/>
            <a:ext cx="1263006" cy="4011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32391510-74FC-4C82-8BA2-A54FBD2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794" y="1792037"/>
            <a:ext cx="67686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64"/>
            </a:solidFill>
          </a:ln>
        </p:spPr>
      </p:sp>
      <p:sp>
        <p:nvSpPr>
          <p:cNvPr id="2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A0C2D3B6-29F4-4FD2-8D6C-AA340F0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794" y="2962220"/>
            <a:ext cx="67686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64"/>
            </a:solidFill>
          </a:ln>
        </p:spPr>
      </p:sp>
      <p:sp>
        <p:nvSpPr>
          <p:cNvPr id="19" name="자유형 13">
            <a:extLst xmlns:a="http://schemas.openxmlformats.org/drawingml/2006/main">
              <a:ext uri="{FF2B5EF4-FFF2-40B4-BE49-F238E27FC236}">
                <a16:creationId xmlns:a16="http://schemas.microsoft.com/office/drawing/2014/main" id="{D37472E4-1589-555D-6245-B6DD0EE0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6291" y="1481393"/>
            <a:ext cx="242430" cy="1800281"/>
          </a:xfrm>
          <a:custGeom xmlns:a="http://schemas.openxmlformats.org/drawingml/2006/main">
            <a:gdLst>
              <a:gd name="T0" fmla="*/ 152400 w 167640"/>
              <a:gd name="T1" fmla="*/ 0 h 1470660"/>
              <a:gd name="T2" fmla="*/ 0 w 167640"/>
              <a:gd name="T3" fmla="*/ 0 h 1470660"/>
              <a:gd name="T4" fmla="*/ 0 w 167640"/>
              <a:gd name="T5" fmla="*/ 2697352 h 1470660"/>
              <a:gd name="T6" fmla="*/ 167640 w 167640"/>
              <a:gd name="T7" fmla="*/ 2697352 h 1470660"/>
              <a:gd name="T8" fmla="*/ 0 60000 65536"/>
              <a:gd name="T9" fmla="*/ 0 60000 65536"/>
              <a:gd name="T10" fmla="*/ 0 60000 65536"/>
              <a:gd name="T11" fmla="*/ 0 60000 65536"/>
            </a:gdLst>
            <a:rect l="0" t="0" r="r" b="b"/>
            <a:pathLst>
              <a:path w="167640" h="1470660">
                <a:moveTo>
                  <a:pt x="152400" y="0"/>
                </a:moveTo>
                <a:lnTo>
                  <a:pt x="0" y="0"/>
                </a:lnTo>
                <a:lnTo>
                  <a:pt x="0" y="1470660"/>
                </a:lnTo>
                <a:lnTo>
                  <a:pt x="167640" y="1470660"/>
                </a:lnTo>
              </a:path>
            </a:pathLst>
          </a:custGeom>
          <a:noFill xmlns:a="http://schemas.openxmlformats.org/drawingml/2006/main"/>
          <a:ln xmlns:a="http://schemas.openxmlformats.org/drawingml/2006/main" w="76200" cap="flat" cmpd="sng">
            <a:solidFill>
              <a:srgbClr val="252A64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자유형 14">
            <a:extLst xmlns:a="http://schemas.openxmlformats.org/drawingml/2006/main">
              <a:ext uri="{FF2B5EF4-FFF2-40B4-BE49-F238E27FC236}">
                <a16:creationId xmlns:a16="http://schemas.microsoft.com/office/drawing/2014/main" id="{574E31AB-F90E-7D6E-7A5B-16AFEE25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8485645" y="1481393"/>
            <a:ext cx="242430" cy="1800281"/>
          </a:xfrm>
          <a:custGeom xmlns:a="http://schemas.openxmlformats.org/drawingml/2006/main">
            <a:gdLst>
              <a:gd name="T0" fmla="*/ 152400 w 167640"/>
              <a:gd name="T1" fmla="*/ 0 h 1470660"/>
              <a:gd name="T2" fmla="*/ 0 w 167640"/>
              <a:gd name="T3" fmla="*/ 0 h 1470660"/>
              <a:gd name="T4" fmla="*/ 0 w 167640"/>
              <a:gd name="T5" fmla="*/ 2697352 h 1470660"/>
              <a:gd name="T6" fmla="*/ 167640 w 167640"/>
              <a:gd name="T7" fmla="*/ 2697352 h 1470660"/>
              <a:gd name="T8" fmla="*/ 0 60000 65536"/>
              <a:gd name="T9" fmla="*/ 0 60000 65536"/>
              <a:gd name="T10" fmla="*/ 0 60000 65536"/>
              <a:gd name="T11" fmla="*/ 0 60000 65536"/>
            </a:gdLst>
            <a:rect l="0" t="0" r="r" b="b"/>
            <a:pathLst>
              <a:path w="167640" h="1470660">
                <a:moveTo>
                  <a:pt x="152400" y="0"/>
                </a:moveTo>
                <a:lnTo>
                  <a:pt x="0" y="0"/>
                </a:lnTo>
                <a:lnTo>
                  <a:pt x="0" y="1470660"/>
                </a:lnTo>
                <a:lnTo>
                  <a:pt x="167640" y="1470660"/>
                </a:lnTo>
              </a:path>
            </a:pathLst>
          </a:custGeom>
          <a:noFill xmlns:a="http://schemas.openxmlformats.org/drawingml/2006/main"/>
          <a:ln xmlns:a="http://schemas.openxmlformats.org/drawingml/2006/main" w="76200" cap="flat" cmpd="sng">
            <a:solidFill>
              <a:srgbClr val="252A64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2C8774-B7FB-0E5C-B7E3-814898A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25" y="1340768"/>
            <a:ext cx="7549688" cy="404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9pPr>
          </a:lstStyle>
          <a:p xmlns:a="http://schemas.openxmlformats.org/drawingml/2006/main">
            <a:pPr algn="ctr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r>
              <a:rPr sz="1400" b="1">
                <a:solidFill>
                  <a:srgbClr val="252A64"/>
                </a:solidFill>
                <a:latin typeface="맑은 고딕"/>
                <a:ea typeface="맑은 고딕"/>
                <a:cs typeface="맑은 고딕"/>
              </a:rPr>
              <a:t>2026</a:t>
            </a:r>
            <a:r>
              <a:rPr sz="1400" b="1">
                <a:solidFill>
                  <a:srgbClr val="252A64"/>
                </a:solidFill>
                <a:latin typeface="맑은 고딕"/>
                <a:ea typeface="맑은 고딕"/>
                <a:cs typeface="맑은 고딕"/>
              </a:rPr>
              <a:t>년 현대자동차그룹 미래기술공모과제 제안서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8CEBBD4-C685-E72A-9DE1-71FDD45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90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flat" cmpd="sng">
            <a:solidFill>
              <a:schemeClr val="bg1">
                <a:lumMod val="95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  <p:sp>
        <p:nvSpPr>
          <p:cNvPr id="10" name="직각 삼각형 9">
            <a:extLst xmlns:a="http://schemas.openxmlformats.org/drawingml/2006/main">
              <a:ext uri="{FF2B5EF4-FFF2-40B4-BE49-F238E27FC236}">
                <a16:creationId xmlns:a16="http://schemas.microsoft.com/office/drawing/2014/main" id="{D9554322-2452-E753-05A0-A3E8A36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113" y="0"/>
            <a:ext cx="1304925" cy="130492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  <p:sp>
        <p:nvSpPr>
          <p:cNvPr id="11" name="직각 삼각형 10">
            <a:extLst xmlns:a="http://schemas.openxmlformats.org/drawingml/2006/main">
              <a:ext uri="{FF2B5EF4-FFF2-40B4-BE49-F238E27FC236}">
                <a16:creationId xmlns:a16="http://schemas.microsoft.com/office/drawing/2014/main" id="{44A124BE-AC13-D730-2C59-0868D9F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600282" y="5545931"/>
            <a:ext cx="1306512" cy="130492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1">
            <a:extLst xmlns:a="http://schemas.openxmlformats.org/drawingml/2006/main">
              <a:ext uri="{FF2B5EF4-FFF2-40B4-BE49-F238E27FC236}">
                <a16:creationId xmlns:a16="http://schemas.microsoft.com/office/drawing/2014/main" id="{5B4A7C08-B9D0-401B-ACB3-9804B38B92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4920" y="235967"/>
            <a:ext cx="6802336" cy="369332"/>
          </a:xfr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 sz="2400" b="1"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2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7775906-CB07-420F-83B1-BCE3FFF4FEC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8955780" y="328615"/>
            <a:ext cx="495300" cy="3635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>
              <a:buNone/>
            </a:pPr>
            <a:fld id="{13527AB9-6298-44FA-9E1C-7B66247BD5AA}" type="slidenum">
              <a:rPr>
                <a:solidFill>
                  <a:prstClr val="black"/>
                </a:solidFill>
              </a:rPr>
              <a:t>‹#›</a:t>
            </a:fld>
            <a:endParaRPr>
              <a:solidFill>
                <a:prstClr val="black"/>
              </a:solidFill>
            </a:endParaRPr>
          </a:p>
        </p:txBody>
      </p:sp>
      <p:pic>
        <p:nvPicPr>
          <p:cNvPr id="9" name="Picture 146">
            <a:extLst xmlns:a="http://schemas.openxmlformats.org/drawingml/2006/main">
              <a:ext uri="{FF2B5EF4-FFF2-40B4-BE49-F238E27FC236}">
                <a16:creationId xmlns:a16="http://schemas.microsoft.com/office/drawing/2014/main" id="{412578B6-BF5E-4270-8B7D-57B9E74E9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1e0b74e214c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3325" y="6559552"/>
            <a:ext cx="809625" cy="257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7C098889-6B86-48A6-B290-8050B96EEB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d41dbba364b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473" y="6542648"/>
            <a:ext cx="1463537" cy="252000"/>
          </a:xfrm>
          <a:prstGeom xmlns:a="http://schemas.openxmlformats.org/drawingml/2006/main" prst="rect">
            <a:avLst/>
          </a:prstGeom>
        </p:spPr>
      </p:pic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FA23355-2E21-46AD-E18B-4D487757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59" y="741647"/>
            <a:ext cx="908431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29F1547-AB47-69C9-30C6-C748295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759" y="741647"/>
            <a:ext cx="202923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487857F8-AC1B-4735-A5DB-7E993F4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B34081B5-0E98-4677-AFD3-25BE5F5B16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A89D000E-CC94-4ECF-A5E0-02494892C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3B54AC5-A95C-43F5-B3B2-A694E2B51DE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FF641CD-CDF2-42F9-A55E-D8D7EEF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775" y="728663"/>
            <a:ext cx="9185275" cy="476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7A718F8-DDFA-4178-9271-CE9C263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" y="728663"/>
            <a:ext cx="3600450" cy="3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>
            <a:lvl1pPr marL="777875" indent="-298450" defTabSz="957263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1pPr>
            <a:lvl2pPr marL="742950" indent="-285750" defTabSz="957263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2pPr>
            <a:lvl3pPr marL="1143000" indent="-228600" defTabSz="957263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3pPr>
            <a:lvl4pPr marL="1600200" indent="-228600" defTabSz="957263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4pPr>
            <a:lvl5pPr marL="2057400" indent="-228600" defTabSz="957263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5pPr>
            <a:lvl6pPr marL="2514600" indent="-228600" defTabSz="957263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6pPr>
            <a:lvl7pPr marL="2971800" indent="-228600" defTabSz="957263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7pPr>
            <a:lvl8pPr marL="3429000" indent="-228600" defTabSz="957263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8pPr>
            <a:lvl9pPr marL="3886200" indent="-228600" defTabSz="957263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9pPr>
          </a:lstStyle>
          <a:p xmlns:a="http://schemas.openxmlformats.org/drawingml/2006/main">
            <a:pPr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9EEB2D82-ECD8-4C44-A243-1BB54516A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495" y="233645"/>
            <a:ext cx="8915400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l">
              <a:buNone/>
              <a:defRPr sz="24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22B230-65C8-4B3B-9F68-647590020191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9513888" y="6588125"/>
            <a:ext cx="392112" cy="269875"/>
          </a:xfrm>
        </p:spPr>
        <p:txBody>
          <a:bodyPr xmlns:a="http://schemas.openxmlformats.org/drawingml/2006/main" wrap="square" anchor="t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CFBCD7E-D3EA-4FE0-AA0E-02B5C832541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46">
            <a:extLst xmlns:a="http://schemas.openxmlformats.org/drawingml/2006/main">
              <a:ext uri="{FF2B5EF4-FFF2-40B4-BE49-F238E27FC236}">
                <a16:creationId xmlns:a16="http://schemas.microsoft.com/office/drawing/2014/main" id="{62BE5A7C-1108-4E15-B4AD-0F12D29A9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9002ed1a543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8637" y="5997798"/>
            <a:ext cx="1263006" cy="4011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B89DF0CC-FC2E-485A-9060-CC68035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794" y="1792037"/>
            <a:ext cx="67686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64"/>
            </a:solidFill>
          </a:ln>
        </p:spPr>
      </p:sp>
      <p:sp>
        <p:nvSpPr>
          <p:cNvPr id="2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7424BDCB-4A68-456E-BE92-3B78BE02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794" y="2962220"/>
            <a:ext cx="67686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A64"/>
            </a:solidFill>
          </a:ln>
        </p:spPr>
      </p:sp>
      <p:sp>
        <p:nvSpPr>
          <p:cNvPr id="19" name="자유형 13">
            <a:extLst xmlns:a="http://schemas.openxmlformats.org/drawingml/2006/main">
              <a:ext uri="{FF2B5EF4-FFF2-40B4-BE49-F238E27FC236}">
                <a16:creationId xmlns:a16="http://schemas.microsoft.com/office/drawing/2014/main" id="{D37472E4-1589-555D-6245-B6DD0EE0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6291" y="1481393"/>
            <a:ext cx="242430" cy="1800281"/>
          </a:xfrm>
          <a:custGeom xmlns:a="http://schemas.openxmlformats.org/drawingml/2006/main">
            <a:gdLst>
              <a:gd name="T0" fmla="*/ 152400 w 167640"/>
              <a:gd name="T1" fmla="*/ 0 h 1470660"/>
              <a:gd name="T2" fmla="*/ 0 w 167640"/>
              <a:gd name="T3" fmla="*/ 0 h 1470660"/>
              <a:gd name="T4" fmla="*/ 0 w 167640"/>
              <a:gd name="T5" fmla="*/ 2697352 h 1470660"/>
              <a:gd name="T6" fmla="*/ 167640 w 167640"/>
              <a:gd name="T7" fmla="*/ 2697352 h 1470660"/>
              <a:gd name="T8" fmla="*/ 0 60000 65536"/>
              <a:gd name="T9" fmla="*/ 0 60000 65536"/>
              <a:gd name="T10" fmla="*/ 0 60000 65536"/>
              <a:gd name="T11" fmla="*/ 0 60000 65536"/>
            </a:gdLst>
            <a:rect l="0" t="0" r="r" b="b"/>
            <a:pathLst>
              <a:path w="167640" h="1470660">
                <a:moveTo>
                  <a:pt x="152400" y="0"/>
                </a:moveTo>
                <a:lnTo>
                  <a:pt x="0" y="0"/>
                </a:lnTo>
                <a:lnTo>
                  <a:pt x="0" y="1470660"/>
                </a:lnTo>
                <a:lnTo>
                  <a:pt x="167640" y="1470660"/>
                </a:lnTo>
              </a:path>
            </a:pathLst>
          </a:custGeom>
          <a:noFill xmlns:a="http://schemas.openxmlformats.org/drawingml/2006/main"/>
          <a:ln xmlns:a="http://schemas.openxmlformats.org/drawingml/2006/main" w="76200" cap="flat" cmpd="sng">
            <a:solidFill>
              <a:srgbClr val="252A64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자유형 14">
            <a:extLst xmlns:a="http://schemas.openxmlformats.org/drawingml/2006/main">
              <a:ext uri="{FF2B5EF4-FFF2-40B4-BE49-F238E27FC236}">
                <a16:creationId xmlns:a16="http://schemas.microsoft.com/office/drawing/2014/main" id="{574E31AB-F90E-7D6E-7A5B-16AFEE25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8485645" y="1481393"/>
            <a:ext cx="242430" cy="1800281"/>
          </a:xfrm>
          <a:custGeom xmlns:a="http://schemas.openxmlformats.org/drawingml/2006/main">
            <a:gdLst>
              <a:gd name="T0" fmla="*/ 152400 w 167640"/>
              <a:gd name="T1" fmla="*/ 0 h 1470660"/>
              <a:gd name="T2" fmla="*/ 0 w 167640"/>
              <a:gd name="T3" fmla="*/ 0 h 1470660"/>
              <a:gd name="T4" fmla="*/ 0 w 167640"/>
              <a:gd name="T5" fmla="*/ 2697352 h 1470660"/>
              <a:gd name="T6" fmla="*/ 167640 w 167640"/>
              <a:gd name="T7" fmla="*/ 2697352 h 1470660"/>
              <a:gd name="T8" fmla="*/ 0 60000 65536"/>
              <a:gd name="T9" fmla="*/ 0 60000 65536"/>
              <a:gd name="T10" fmla="*/ 0 60000 65536"/>
              <a:gd name="T11" fmla="*/ 0 60000 65536"/>
            </a:gdLst>
            <a:rect l="0" t="0" r="r" b="b"/>
            <a:pathLst>
              <a:path w="167640" h="1470660">
                <a:moveTo>
                  <a:pt x="152400" y="0"/>
                </a:moveTo>
                <a:lnTo>
                  <a:pt x="0" y="0"/>
                </a:lnTo>
                <a:lnTo>
                  <a:pt x="0" y="1470660"/>
                </a:lnTo>
                <a:lnTo>
                  <a:pt x="167640" y="1470660"/>
                </a:lnTo>
              </a:path>
            </a:pathLst>
          </a:custGeom>
          <a:noFill xmlns:a="http://schemas.openxmlformats.org/drawingml/2006/main"/>
          <a:ln xmlns:a="http://schemas.openxmlformats.org/drawingml/2006/main" w="76200" cap="flat" cmpd="sng">
            <a:solidFill>
              <a:srgbClr val="252A64"/>
            </a:solidFill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2C8774-B7FB-0E5C-B7E3-814898A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25" y="1340768"/>
            <a:ext cx="7549688" cy="404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9pPr>
          </a:lstStyle>
          <a:p xmlns:a="http://schemas.openxmlformats.org/drawingml/2006/main">
            <a:pPr algn="ctr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r>
              <a:rPr sz="1400" b="1">
                <a:solidFill>
                  <a:srgbClr val="252A64"/>
                </a:solidFill>
                <a:latin typeface="맑은 고딕"/>
                <a:ea typeface="맑은 고딕"/>
                <a:cs typeface="맑은 고딕"/>
              </a:rPr>
              <a:t>2026</a:t>
            </a:r>
            <a:r>
              <a:rPr sz="1400" b="1">
                <a:solidFill>
                  <a:srgbClr val="252A64"/>
                </a:solidFill>
                <a:latin typeface="맑은 고딕"/>
                <a:ea typeface="맑은 고딕"/>
                <a:cs typeface="맑은 고딕"/>
              </a:rPr>
              <a:t>년 현대자동차그룹 미래기술공모과제 제안서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8CEBBD4-C685-E72A-9DE1-71FDD45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990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flat" cmpd="sng">
            <a:solidFill>
              <a:schemeClr val="bg1">
                <a:lumMod val="95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  <p:sp>
        <p:nvSpPr>
          <p:cNvPr id="10" name="직각 삼각형 9">
            <a:extLst xmlns:a="http://schemas.openxmlformats.org/drawingml/2006/main">
              <a:ext uri="{FF2B5EF4-FFF2-40B4-BE49-F238E27FC236}">
                <a16:creationId xmlns:a16="http://schemas.microsoft.com/office/drawing/2014/main" id="{D9554322-2452-E753-05A0-A3E8A36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113" y="0"/>
            <a:ext cx="1304925" cy="130492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  <p:sp>
        <p:nvSpPr>
          <p:cNvPr id="11" name="직각 삼각형 10">
            <a:extLst xmlns:a="http://schemas.openxmlformats.org/drawingml/2006/main">
              <a:ext uri="{FF2B5EF4-FFF2-40B4-BE49-F238E27FC236}">
                <a16:creationId xmlns:a16="http://schemas.microsoft.com/office/drawing/2014/main" id="{44A124BE-AC13-D730-2C59-0868D9F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600282" y="5545931"/>
            <a:ext cx="1306512" cy="130492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xmlns:a="http://schemas.openxmlformats.org/drawingml/2006/main" lIns="95735" tIns="47870" rIns="95735" bIns="47870"/>
          <a:lstStyle xmlns:a="http://schemas.openxmlformats.org/drawingml/2006/main"/>
          <a:p xmlns:a="http://schemas.openxmlformats.org/drawingml/2006/main">
            <a:pPr marL="777875" indent="-298450" defTabSz="957263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1_내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0F8E34-187E-4BCA-80CA-88F1BF505B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1794" y="107952"/>
            <a:ext cx="9382412" cy="558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5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DF814B-39F8-4417-BD5C-C202DE1AD3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1794" y="778989"/>
            <a:ext cx="9382412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85750" indent="-285750" algn="l" defTabSz="914400">
              <a:lnSpc>
                <a:spcPct val="90000"/>
              </a:lnSpc>
              <a:spcBef>
                <a:spcPts val="1000"/>
              </a:spcBef>
              <a:buFont typeface="Wingdings"/>
              <a:buChar char="§"/>
              <a:defRPr sz="1200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297D84-C0D1-4387-9393-2FE86BF15D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DC509-D3E5-4983-8CCD-8752D87961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49CF5082-B8DD-4FEF-B1D1-0CC9035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6" y="722869"/>
            <a:ext cx="9382413" cy="0"/>
          </a:xfrm>
          <a:prstGeom xmlns:a="http://schemas.openxmlformats.org/drawingml/2006/main" prst="line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lin ang="10800000" scaled="1"/>
            <a:tileRect/>
          </a:gradFill>
          <a:ln xmlns:a="http://schemas.openxmlformats.org/drawingml/2006/main" w="25400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3cd1ce2224e3c" /><Relationship Type="http://schemas.openxmlformats.org/officeDocument/2006/relationships/slideLayout" Target="/ppt/slideLayouts/slideLayout1.xml" Id="Rffb6841d86b6441f" /><Relationship Type="http://schemas.openxmlformats.org/officeDocument/2006/relationships/slideLayout" Target="/ppt/slideLayouts/slideLayout2.xml" Id="R6362005e60a04f8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c07ca6ce9f4251" /><Relationship Type="http://schemas.openxmlformats.org/officeDocument/2006/relationships/slideLayout" Target="/ppt/slideLayouts/slideLayout3.xml" Id="Rc77244d745b24a95" /><Relationship Type="http://schemas.openxmlformats.org/officeDocument/2006/relationships/slideLayout" Target="/ppt/slideLayouts/slideLayout4.xml" Id="Rc2738fddd81f49fb" /><Relationship Type="http://schemas.openxmlformats.org/officeDocument/2006/relationships/slideLayout" Target="/ppt/slideLayouts/slideLayout5.xml" Id="R97005b40645f4bfc" /><Relationship Type="http://schemas.openxmlformats.org/officeDocument/2006/relationships/slideLayout" Target="/ppt/slideLayouts/slideLayout6.xml" Id="R76b0d97be3434b0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18985BAC-5E4D-490F-87EA-6D9982FB6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274638"/>
            <a:ext cx="8915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5784" tIns="47892" rIns="95784" bIns="47892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제목 스타일 편집</a:t>
            </a:r>
          </a:p>
        </p:txBody>
      </p:sp>
      <p:sp>
        <p:nvSpPr>
          <p:cNvPr id="1027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5F73F5D-4322-4362-B746-808524856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600200"/>
            <a:ext cx="89154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5784" tIns="47892" rIns="95784" bIns="47892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6636D96-171F-46BC-8DE0-F02F1B7F05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95300" y="6356350"/>
            <a:ext cx="2311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5784" tIns="47892" rIns="95784" bIns="47892" anchor="ctr"/>
          <a:lstStyle xmlns:a="http://schemas.openxmlformats.org/drawingml/2006/main">
            <a:lvl1pPr algn="l" defTabSz="957263">
              <a:buNone/>
              <a:defRPr sz="1300" b="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E7A62350-C757-4C86-BE7A-A28358C260D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384550" y="6356350"/>
            <a:ext cx="31369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5784" tIns="47892" rIns="95784" bIns="47892" anchor="ctr"/>
          <a:lstStyle xmlns:a="http://schemas.openxmlformats.org/drawingml/2006/main">
            <a:lvl1pPr algn="ctr">
              <a:buNone/>
              <a:defRPr sz="1300" b="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202E5B5-A89A-468C-9217-FBEAABB6EE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99300" y="6356350"/>
            <a:ext cx="2311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5784" tIns="47892" rIns="95784" bIns="47892" anchor="ctr"/>
          <a:lstStyle xmlns:a="http://schemas.openxmlformats.org/drawingml/2006/main">
            <a:lvl1pPr algn="r" defTabSz="957263">
              <a:buNone/>
              <a:defRPr sz="1300" b="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>
              <a:buNone/>
            </a:pPr>
            <a:fld id="{E2D2AE17-6014-46FB-B1A4-ABA20739A47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6841d86b6441f"/>
    <p:sldLayoutId xmlns:r="http://schemas.openxmlformats.org/officeDocument/2006/relationships" id="2147483650" r:id="R6362005e60a04f81"/>
  </p:sldLayoutIdLst>
  <p:hf hdr="0" ftr="0" dt="0"/>
  <p:txStyles>
    <p:titleStyle>
      <a:lvl1pPr xmlns:a="http://schemas.openxmlformats.org/drawingml/2006/main" algn="ctr" defTabSz="957263">
        <a:spcBef>
          <a:spcPct val="0"/>
        </a:spcBef>
        <a:spcAft>
          <a:spcPct val="0"/>
        </a:spcAft>
        <a:buNone/>
        <a:defRPr sz="46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957263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2pPr>
      <a:lvl3pPr xmlns:a="http://schemas.openxmlformats.org/drawingml/2006/main" algn="ctr" defTabSz="957263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3pPr>
      <a:lvl4pPr xmlns:a="http://schemas.openxmlformats.org/drawingml/2006/main" algn="ctr" defTabSz="957263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4pPr>
      <a:lvl5pPr xmlns:a="http://schemas.openxmlformats.org/drawingml/2006/main" algn="ctr" defTabSz="957263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5pPr>
      <a:lvl6pPr xmlns:a="http://schemas.openxmlformats.org/drawingml/2006/main" marL="419847" algn="ctr" defTabSz="957776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6pPr>
      <a:lvl7pPr xmlns:a="http://schemas.openxmlformats.org/drawingml/2006/main" marL="839694" algn="ctr" defTabSz="957776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7pPr>
      <a:lvl8pPr xmlns:a="http://schemas.openxmlformats.org/drawingml/2006/main" marL="1259540" algn="ctr" defTabSz="957776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8pPr>
      <a:lvl9pPr xmlns:a="http://schemas.openxmlformats.org/drawingml/2006/main" marL="1679387" algn="ctr" defTabSz="957776">
        <a:spcBef>
          <a:spcPct val="0"/>
        </a:spcBef>
        <a:spcAft>
          <a:spcPct val="0"/>
        </a:spcAft>
        <a:buNone/>
        <a:defRPr sz="4600">
          <a:solidFill>
            <a:schemeClr val="tx1"/>
          </a:solidFill>
          <a:latin typeface="맑은 고딕"/>
          <a:ea typeface="맑은 고딕"/>
          <a:cs typeface="맑은 고딕"/>
        </a:defRPr>
      </a:lvl9pPr>
    </p:titleStyle>
    <p:bodyStyle>
      <a:lvl1pPr xmlns:a="http://schemas.openxmlformats.org/drawingml/2006/main" marL="357188" indent="-357188" algn="l" defTabSz="957263">
        <a:spcBef>
          <a:spcPct val="20000"/>
        </a:spcBef>
        <a:spcAft>
          <a:spcPct val="0"/>
        </a:spcAft>
        <a:buFont typeface="Arial"/>
        <a:buChar char="•"/>
        <a:defRPr sz="3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76288" indent="-298450" algn="l" defTabSz="957263">
        <a:spcBef>
          <a:spcPct val="20000"/>
        </a:spcBef>
        <a:spcAft>
          <a:spcPct val="0"/>
        </a:spcAft>
        <a:buFont typeface="Arial"/>
        <a:buChar char="–"/>
        <a:defRPr sz="29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95388" indent="-238125" algn="l" defTabSz="957263">
        <a:spcBef>
          <a:spcPct val="20000"/>
        </a:spcBef>
        <a:spcAft>
          <a:spcPct val="0"/>
        </a:spcAft>
        <a:buFont typeface="Arial"/>
        <a:buChar char="•"/>
        <a:defRPr sz="2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74813" indent="-238125" algn="l" defTabSz="957263">
        <a:spcBef>
          <a:spcPct val="20000"/>
        </a:spcBef>
        <a:spcAft>
          <a:spcPct val="0"/>
        </a:spcAft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54238" indent="-238125" algn="l" defTabSz="957263">
        <a:spcBef>
          <a:spcPct val="20000"/>
        </a:spcBef>
        <a:spcAft>
          <a:spcPct val="0"/>
        </a:spcAft>
        <a:buFont typeface="Arial"/>
        <a:buChar char="»"/>
        <a:defRPr sz="21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634055" indent="-239460" algn="l" defTabSz="957838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112975" indent="-239460" algn="l" defTabSz="957838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591894" indent="-239460" algn="l" defTabSz="957838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070813" indent="-239460" algn="l" defTabSz="957838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78919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57838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436757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15677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4596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73515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352434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31353" algn="l" defTabSz="957838">
        <a:buNone/>
        <a:defRPr sz="19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120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37BAA18A-B240-4566-A506-CB49704EC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5300" y="274638"/>
            <a:ext cx="8915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제목 스타일 편집</a:t>
            </a:r>
          </a:p>
        </p:txBody>
      </p:sp>
      <p:sp>
        <p:nvSpPr>
          <p:cNvPr id="1027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E9BA4AA-5BF7-4A64-AF4A-809DA0814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5300" y="1600200"/>
            <a:ext cx="89154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A192B17-1108-4190-B99E-D458EC0EB9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95300" y="6356350"/>
            <a:ext cx="2311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CD0C521-EA5D-4C1F-8A59-7F9C4A683B7A}" type="datetimeFigureOut">
              <a:t>2026-10-21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797C00-4CB5-44BE-A27E-93D48D9987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384550" y="6356350"/>
            <a:ext cx="31369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8C53B54-801B-4507-AFA6-D320D7F076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099300" y="6356350"/>
            <a:ext cx="2311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DEF68E-8F7F-486A-96B2-B44A2BD2DAB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c77244d745b24a95"/>
    <p:sldLayoutId xmlns:r="http://schemas.openxmlformats.org/officeDocument/2006/relationships" id="2147483653" r:id="Rc2738fddd81f49fb"/>
    <p:sldLayoutId xmlns:r="http://schemas.openxmlformats.org/officeDocument/2006/relationships" id="2147483654" r:id="R97005b40645f4bfc"/>
    <p:sldLayoutId xmlns:r="http://schemas.openxmlformats.org/officeDocument/2006/relationships" id="2147483655" r:id="R76b0d97be3434b06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맑은 고딕"/>
          <a:ea typeface="맑은 고딕"/>
          <a:cs typeface="맑은 고딕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8950ebc317402b" /><Relationship Type="http://schemas.openxmlformats.org/officeDocument/2006/relationships/notesSlide" Target="/ppt/notesSlides/notesSlide1.xml" Id="Red02c1fc27ea41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aa09d175c414e" /><Relationship Type="http://schemas.openxmlformats.org/officeDocument/2006/relationships/notesSlide" Target="/ppt/notesSlides/notesSlide2.xml" Id="Race7ab050d6d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076dbc6ad344dae" /><Relationship Type="http://schemas.openxmlformats.org/officeDocument/2006/relationships/image" Target="/ppt/media/image2.png" Id="Rff7cf8436bae43b2" /><Relationship Type="http://schemas.openxmlformats.org/officeDocument/2006/relationships/image" Target="/ppt/media/image3.png" Id="R3e984c573ead40d9" /><Relationship Type="http://schemas.openxmlformats.org/officeDocument/2006/relationships/image" Target="/ppt/media/image2.jpeg" Id="Rd775ce8504064980" /><Relationship Type="http://schemas.openxmlformats.org/officeDocument/2006/relationships/image" Target="/ppt/media/image4.png" Id="R446b37c304f04660" /><Relationship Type="http://schemas.openxmlformats.org/officeDocument/2006/relationships/notesSlide" Target="/ppt/notesSlides/notesSlide3.xml" Id="R096e7b706668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a52df8e09c494e" /><Relationship Type="http://schemas.openxmlformats.org/officeDocument/2006/relationships/image" Target="/ppt/media/image5.png" Id="Rabc206c6630f4880" /><Relationship Type="http://schemas.openxmlformats.org/officeDocument/2006/relationships/image" Target="/ppt/media/image6.png" Id="R345ba142afab484c" /><Relationship Type="http://schemas.openxmlformats.org/officeDocument/2006/relationships/image" Target="/ppt/media/image3.jpeg" Id="Red51b6f88b20417b" /><Relationship Type="http://schemas.openxmlformats.org/officeDocument/2006/relationships/image" Target="/ppt/media/image7.png" Id="R87d57eebec5045a9" /><Relationship Type="http://schemas.openxmlformats.org/officeDocument/2006/relationships/image" Target="/ppt/media/image8.png" Id="Rf1c089de734444ab" /><Relationship Type="http://schemas.openxmlformats.org/officeDocument/2006/relationships/image" Target="/ppt/media/image9.png" Id="Rae8c01b205ea40e2" /><Relationship Type="http://schemas.openxmlformats.org/officeDocument/2006/relationships/image" Target="/ppt/media/image10.png" Id="R4e525c55448d4255" /><Relationship Type="http://schemas.openxmlformats.org/officeDocument/2006/relationships/image" Target="/ppt/media/image11.png" Id="R1a13f15941c94952" /><Relationship Type="http://schemas.openxmlformats.org/officeDocument/2006/relationships/notesSlide" Target="/ppt/notesSlides/notesSlide4.xml" Id="R7b17e01d3134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f620866d7864c58" /><Relationship Type="http://schemas.openxmlformats.org/officeDocument/2006/relationships/image" Target="/ppt/media/image4.jpeg" Id="R02c64cd72e8048ca" /><Relationship Type="http://schemas.openxmlformats.org/officeDocument/2006/relationships/image" Target="/ppt/media/image5.jpeg" Id="R9713f9f8fef94536" /><Relationship Type="http://schemas.openxmlformats.org/officeDocument/2006/relationships/notesSlide" Target="/ppt/notesSlides/notesSlide5.xml" Id="Rb2c4625028854f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8030f6c40c4711" /><Relationship Type="http://schemas.openxmlformats.org/officeDocument/2006/relationships/image" Target="/ppt/media/image12.png" Id="R0f8aaa3864b94d85" /><Relationship Type="http://schemas.openxmlformats.org/officeDocument/2006/relationships/notesSlide" Target="/ppt/notesSlides/notesSlide6.xml" Id="R709b809d240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0df1eae8eaf4672" /><Relationship Type="http://schemas.openxmlformats.org/officeDocument/2006/relationships/image" Target="/ppt/media/image13.png" Id="Raf9182ca637d40d0" /><Relationship Type="http://schemas.openxmlformats.org/officeDocument/2006/relationships/notesSlide" Target="/ppt/notesSlides/notesSlide7.xml" Id="R8c95943b9e26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314d5c42e643cd" /><Relationship Type="http://schemas.openxmlformats.org/officeDocument/2006/relationships/image" Target="/ppt/media/image14.png" Id="Rc15f83c2e6dc4562" /><Relationship Type="http://schemas.openxmlformats.org/officeDocument/2006/relationships/notesSlide" Target="/ppt/notesSlides/notesSlide8.xml" Id="R49fc9e31b1ff4d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fe46e206df4bd8" /><Relationship Type="http://schemas.openxmlformats.org/officeDocument/2006/relationships/image" Target="/ppt/media/image15.png" Id="R8578d3277eba487b" /><Relationship Type="http://schemas.openxmlformats.org/officeDocument/2006/relationships/notesSlide" Target="/ppt/notesSlides/notesSlide9.xml" Id="Rf324d838362141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6817fab39c24c39" /><Relationship Type="http://schemas.openxmlformats.org/officeDocument/2006/relationships/image" Target="/ppt/media/image16.png" Id="Rcee93cb964f1417c" /><Relationship Type="http://schemas.openxmlformats.org/officeDocument/2006/relationships/notesSlide" Target="/ppt/notesSlides/notesSlide10.xml" Id="R45316447278748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d38c4f208484772" /><Relationship Type="http://schemas.openxmlformats.org/officeDocument/2006/relationships/image" Target="/ppt/media/image17.png" Id="R02155ffa167e489d" /><Relationship Type="http://schemas.openxmlformats.org/officeDocument/2006/relationships/image" Target="/ppt/media/image18.png" Id="R3eff8c2c6f0b4a65" /><Relationship Type="http://schemas.openxmlformats.org/officeDocument/2006/relationships/notesSlide" Target="/ppt/notesSlides/notesSlide11.xml" Id="R6f0a43972ca746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a4177dc5f6e4088" /><Relationship Type="http://schemas.openxmlformats.org/officeDocument/2006/relationships/notesSlide" Target="/ppt/notesSlides/notesSlide12.xml" Id="R6e1079306dbe41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be48f4d66445a3" /><Relationship Type="http://schemas.openxmlformats.org/officeDocument/2006/relationships/notesSlide" Target="/ppt/notesSlides/notesSlide13.xml" Id="R3ae9a08194c64a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f17ac592e604548" /><Relationship Type="http://schemas.openxmlformats.org/officeDocument/2006/relationships/image" Target="/ppt/media/image19.png" Id="Rb985102a49ef43cb" /><Relationship Type="http://schemas.openxmlformats.org/officeDocument/2006/relationships/notesSlide" Target="/ppt/notesSlides/notesSlide14.xml" Id="R7dde7a4d495d4e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85b3dec49e947ff" /><Relationship Type="http://schemas.openxmlformats.org/officeDocument/2006/relationships/notesSlide" Target="/ppt/notesSlides/notesSlide15.xml" Id="Rf49d2617a04b4c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620ffd9f755448c" /><Relationship Type="http://schemas.openxmlformats.org/officeDocument/2006/relationships/image" Target="/ppt/media/image20.png" Id="Rb8e81b3cc2894272" /><Relationship Type="http://schemas.openxmlformats.org/officeDocument/2006/relationships/notesSlide" Target="/ppt/notesSlides/notesSlide16.xml" Id="R3b1c8b22d4df40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ceff04c574405c" /><Relationship Type="http://schemas.openxmlformats.org/officeDocument/2006/relationships/notesSlide" Target="/ppt/notesSlides/notesSlide17.xml" Id="Refe36769039c41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7baf86ef4b24129" /><Relationship Type="http://schemas.openxmlformats.org/officeDocument/2006/relationships/image" Target="/ppt/media/image21.png" Id="Re8ac1e94a43e4ece" /><Relationship Type="http://schemas.openxmlformats.org/officeDocument/2006/relationships/notesSlide" Target="/ppt/notesSlides/notesSlide18.xml" Id="R4e5d99b5e87243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2367518444651" /><Relationship Type="http://schemas.openxmlformats.org/officeDocument/2006/relationships/notesSlide" Target="/ppt/notesSlides/notesSlide19.xml" Id="R3f54d6cb187a44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adafec94d4d83" /><Relationship Type="http://schemas.openxmlformats.org/officeDocument/2006/relationships/notesSlide" Target="/ppt/notesSlides/notesSlide20.xml" Id="R30f660dfcea24c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060963bf8420b" /><Relationship Type="http://schemas.openxmlformats.org/officeDocument/2006/relationships/notesSlide" Target="/ppt/notesSlides/notesSlide21.xml" Id="Raa321ea923d74d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D064DB-306D-FD13-39D8-672EA6F6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92" y="1939915"/>
            <a:ext cx="7344816" cy="830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9pPr>
          </a:lstStyle>
          <a:p xmlns:a="http://schemas.openxmlformats.org/drawingml/2006/main"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r>
              <a:rPr sz="1500" b="1">
                <a:latin typeface="맑은 고딕"/>
                <a:ea typeface="맑은 고딕"/>
                <a:cs typeface="맑은 고딕"/>
              </a:rPr>
              <a:t>리튬이온배터리</a:t>
            </a:r>
            <a:r>
              <a:rPr sz="1500" b="1">
                <a:latin typeface="맑은 고딕"/>
                <a:ea typeface="맑은 고딕"/>
                <a:cs typeface="맑은 고딕"/>
              </a:rPr>
              <a:t> 노화를 고려한 기계학습 기반 적응적 고속충전 프로토콜 개발</a:t>
            </a:r>
            <a:endParaRPr sz="1500" b="1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algn="ctr">
              <a:spcBef>
                <a:spcPct val="20000"/>
              </a:spcBef>
              <a:buClr>
                <a:schemeClr val="accent2"/>
              </a:buClr>
              <a:buSzPct val="80000"/>
              <a:buNone/>
            </a:pPr>
            <a:r>
              <a:rPr sz="1500" b="1">
                <a:latin typeface="맑은 고딕"/>
                <a:ea typeface="맑은 고딕"/>
                <a:cs typeface="맑은 고딕"/>
              </a:rPr>
              <a:t>Development of a Machine Learning-Based Adaptive Fast</a:t>
            </a:r>
            <a:r>
              <a:rPr sz="1500" b="1">
                <a:latin typeface="맑은 고딕"/>
                <a:ea typeface="맑은 고딕"/>
                <a:cs typeface="맑은 고딕"/>
              </a:rPr>
              <a:t> </a:t>
            </a:r>
            <a:r>
              <a:rPr sz="1500" b="1">
                <a:latin typeface="맑은 고딕"/>
                <a:ea typeface="맑은 고딕"/>
                <a:cs typeface="맑은 고딕"/>
              </a:rPr>
              <a:t>Charging Protocol Considering Lithium-Ion Battery Aging</a:t>
            </a:r>
            <a:endParaRPr sz="15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" name="TextBox 13">
            <a:extLst xmlns:a="http://schemas.openxmlformats.org/drawingml/2006/main">
              <a:ext uri="{FF2B5EF4-FFF2-40B4-BE49-F238E27FC236}">
                <a16:creationId xmlns:a16="http://schemas.microsoft.com/office/drawing/2014/main" id="{B57969C3-65E1-6444-7F0D-1BA4C2E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84" y="1124744"/>
            <a:ext cx="7560840" cy="323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HY헤드라인M"/>
                <a:ea typeface="HY헤드라인M"/>
                <a:cs typeface="HY헤드라인M"/>
              </a:defRPr>
            </a:lvl9pPr>
          </a:lstStyle>
          <a:p xmlns:a="http://schemas.openxmlformats.org/drawingml/2006/main"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/>
              <a:buNone/>
            </a:pPr>
            <a:r>
              <a:rPr sz="1500" b="1">
                <a:latin typeface="맑은 고딕"/>
                <a:ea typeface="맑은 고딕"/>
                <a:cs typeface="맑은 고딕"/>
              </a:rPr>
              <a:t>최종보고서</a:t>
            </a:r>
          </a:p>
        </p:txBody>
      </p:sp>
    </p:spTree>
    <p:extLst>
      <p:ext uri="{BB962C8B-B14F-4D97-AF65-F5344CB8AC3E}">
        <p14:creationId xmlns:p14="http://schemas.microsoft.com/office/powerpoint/2010/main" val="11835127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0CD49EF-9AC0-C6B5-5F80-4AED29A7A2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BCC9707-0056-7D41-4492-C4717435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768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0920D67-8093-E3B3-BCDC-333B6D76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27484"/>
            <a:ext cx="9906000" cy="271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39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Ai2020 DFN 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모델링 결과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E2110364-0B62-40D4-8D1E-99529FA5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3" y="1351721"/>
            <a:ext cx="395840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058166AB-0A95-4784-AE03-5E912DE3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4" y="5246452"/>
            <a:ext cx="38987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410FCC-8AA8-0A7A-7597-F6675308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59" y="6489844"/>
            <a:ext cx="9534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IESL</a:t>
            </a:r>
            <a:endParaRPr b="1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CE1EBD-C327-4F94-4F45-9E4A795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87" y="723479"/>
            <a:ext cx="256703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Research 1</a:t>
            </a:r>
            <a:r>
              <a:rPr sz="32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  <a:endParaRPr sz="3200" b="1" u="sng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290444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제목 2">
            <a:extLst xmlns:a="http://schemas.openxmlformats.org/drawingml/2006/main">
              <a:ext uri="{FF2B5EF4-FFF2-40B4-BE49-F238E27FC236}">
                <a16:creationId xmlns:a16="http://schemas.microsoft.com/office/drawing/2014/main" id="{19CFF231-26F1-D2C5-F70A-DCBEA99F44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233363"/>
            <a:ext cx="8915400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Ai2020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모델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Fitting</a:t>
            </a: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9FBE04-1C06-4FDD-7D09-2128722C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6" y="743134"/>
            <a:ext cx="619538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DFN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모델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Fitting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목표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7C545F-E788-8BFD-66A2-31BEF7D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2" y="1168683"/>
            <a:ext cx="9505056" cy="1036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85750" indent="-285750">
              <a:spcAft>
                <a:spcPts val="800"/>
              </a:spcAft>
              <a:buFont typeface="Wingdings"/>
              <a:buChar char="ü"/>
            </a:pPr>
            <a:r>
              <a:rPr sz="1200" b="1">
                <a:latin typeface="Pretendard"/>
                <a:ea typeface="Pretendard"/>
                <a:cs typeface="Pretendard"/>
              </a:rPr>
              <a:t>DFN(Doyle–Fuller–Newman) </a:t>
            </a:r>
            <a:r>
              <a:rPr sz="1200" b="1">
                <a:latin typeface="Pretendard"/>
                <a:ea typeface="Pretendard"/>
                <a:cs typeface="Pretendard"/>
              </a:rPr>
              <a:t>모델이란</a:t>
            </a:r>
            <a:r>
              <a:rPr sz="1200" b="1">
                <a:latin typeface="Pretendard"/>
                <a:ea typeface="Pretendard"/>
                <a:cs typeface="Pretendard"/>
              </a:rPr>
              <a:t>? </a:t>
            </a:r>
            <a:r>
              <a:rPr sz="1200" b="1">
                <a:latin typeface="Pretendard"/>
                <a:ea typeface="Pretendard"/>
                <a:cs typeface="Pretendard"/>
              </a:rPr>
              <a:t>전극 내 리튬 확산</a:t>
            </a:r>
            <a:r>
              <a:rPr sz="1200" b="1">
                <a:latin typeface="Pretendard"/>
                <a:ea typeface="Pretendard"/>
                <a:cs typeface="Pretendard"/>
              </a:rPr>
              <a:t>, </a:t>
            </a:r>
            <a:r>
              <a:rPr sz="1200" b="1">
                <a:latin typeface="Pretendard"/>
                <a:ea typeface="Pretendard"/>
                <a:cs typeface="Pretendard"/>
              </a:rPr>
              <a:t>전해질 수송 및 계면 반응을 고려하여 배터리 전압과 내부 전기화학적 상태를 예측하는 물리 기반 모델</a:t>
            </a:r>
            <a:endParaRPr sz="1200" b="1" kern="1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285750" indent="-285750">
              <a:spcAft>
                <a:spcPts val="800"/>
              </a:spcAft>
              <a:buFont typeface="Wingdings"/>
              <a:buChar char="ü"/>
            </a:pPr>
            <a:r>
              <a:rPr sz="1200" b="1">
                <a:latin typeface="Pretendard"/>
                <a:ea typeface="Pretendard"/>
                <a:cs typeface="Pretendard"/>
              </a:rPr>
              <a:t>1</a:t>
            </a:r>
            <a:r>
              <a:rPr sz="1200" b="1">
                <a:latin typeface="Pretendard"/>
                <a:ea typeface="Pretendard"/>
                <a:cs typeface="Pretendard"/>
              </a:rPr>
              <a:t>차년도</a:t>
            </a:r>
            <a:r>
              <a:rPr sz="1200" b="1">
                <a:latin typeface="Pretendard"/>
                <a:ea typeface="Pretendard"/>
                <a:cs typeface="Pretendard"/>
              </a:rPr>
              <a:t>: DFN </a:t>
            </a:r>
            <a:r>
              <a:rPr sz="1200" b="1">
                <a:latin typeface="Pretendard"/>
                <a:ea typeface="Pretendard"/>
                <a:cs typeface="Pretendard"/>
              </a:rPr>
              <a:t>모델을 기반으로 전압</a:t>
            </a:r>
            <a:r>
              <a:rPr sz="1200" b="1">
                <a:latin typeface="Pretendard"/>
                <a:ea typeface="Pretendard"/>
                <a:cs typeface="Pretendard"/>
              </a:rPr>
              <a:t>·</a:t>
            </a:r>
            <a:r>
              <a:rPr sz="1200" b="1">
                <a:latin typeface="Pretendard"/>
                <a:ea typeface="Pretendard"/>
                <a:cs typeface="Pretendard"/>
              </a:rPr>
              <a:t>온도</a:t>
            </a:r>
            <a:r>
              <a:rPr sz="1200" b="1">
                <a:latin typeface="Pretendard"/>
                <a:ea typeface="Pretendard"/>
                <a:cs typeface="Pretendard"/>
              </a:rPr>
              <a:t>·</a:t>
            </a:r>
            <a:r>
              <a:rPr sz="1200" b="1">
                <a:latin typeface="Pretendard"/>
                <a:ea typeface="Pretendard"/>
                <a:cs typeface="Pretendard"/>
              </a:rPr>
              <a:t>음극 전위 제약조건을 고려하여 </a:t>
            </a:r>
            <a:r>
              <a:rPr sz="1200" b="1">
                <a:latin typeface="Pretendard"/>
                <a:ea typeface="Pretendard"/>
                <a:cs typeface="Pretendard"/>
              </a:rPr>
              <a:t>10~80% SOC </a:t>
            </a:r>
            <a:r>
              <a:rPr sz="1200" b="1">
                <a:latin typeface="Pretendard"/>
                <a:ea typeface="Pretendard"/>
                <a:cs typeface="Pretendard"/>
              </a:rPr>
              <a:t>충전시간을 최소화하는 고속충전 프로토콜 개발 </a:t>
            </a:r>
            <a:endParaRPr sz="1200" b="1" kern="1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285750" indent="-285750">
              <a:spcAft>
                <a:spcPts val="800"/>
              </a:spcAft>
              <a:buFont typeface="Wingdings"/>
              <a:buChar char="ü"/>
            </a:pPr>
            <a:r>
              <a:rPr sz="1200" b="1">
                <a:latin typeface="Pretendard"/>
                <a:ea typeface="Pretendard"/>
                <a:cs typeface="Pretendard"/>
              </a:rPr>
              <a:t>2</a:t>
            </a:r>
            <a:r>
              <a:rPr sz="1200" b="1">
                <a:latin typeface="Pretendard"/>
                <a:ea typeface="Pretendard"/>
                <a:cs typeface="Pretendard"/>
              </a:rPr>
              <a:t>차년도</a:t>
            </a:r>
            <a:r>
              <a:rPr sz="1200" b="1">
                <a:latin typeface="Pretendard"/>
                <a:ea typeface="Pretendard"/>
                <a:cs typeface="Pretendard"/>
              </a:rPr>
              <a:t>: </a:t>
            </a:r>
            <a:r>
              <a:rPr sz="1200" b="1">
                <a:latin typeface="Pretendard"/>
                <a:ea typeface="Pretendard"/>
                <a:cs typeface="Pretendard"/>
              </a:rPr>
              <a:t>구축한 </a:t>
            </a:r>
            <a:r>
              <a:rPr sz="1200" b="1">
                <a:latin typeface="Pretendard"/>
                <a:ea typeface="Pretendard"/>
                <a:cs typeface="Pretendard"/>
              </a:rPr>
              <a:t>DFN </a:t>
            </a:r>
            <a:r>
              <a:rPr sz="1200" b="1">
                <a:latin typeface="Pretendard"/>
                <a:ea typeface="Pretendard"/>
                <a:cs typeface="Pretendard"/>
              </a:rPr>
              <a:t>모델과 충전 최적화 시스템을 활용하여 </a:t>
            </a:r>
            <a:r>
              <a:rPr sz="1200" b="1">
                <a:latin typeface="Pretendard"/>
                <a:ea typeface="Pretendard"/>
                <a:cs typeface="Pretendard"/>
              </a:rPr>
              <a:t>‘</a:t>
            </a:r>
            <a:r>
              <a:rPr sz="1200" b="1">
                <a:latin typeface="Pretendard"/>
                <a:ea typeface="Pretendard"/>
                <a:cs typeface="Pretendard"/>
              </a:rPr>
              <a:t>온라인 적용성을 고려한 </a:t>
            </a:r>
            <a:r>
              <a:rPr sz="1200" b="1">
                <a:latin typeface="Pretendard"/>
                <a:ea typeface="Pretendard"/>
                <a:cs typeface="Pretendard"/>
              </a:rPr>
              <a:t>PIML </a:t>
            </a:r>
            <a:r>
              <a:rPr sz="1200" b="1">
                <a:latin typeface="Pretendard"/>
                <a:ea typeface="Pretendard"/>
                <a:cs typeface="Pretendard"/>
              </a:rPr>
              <a:t>기반 적응형 충전 프로토콜 최적화 연구</a:t>
            </a:r>
            <a:r>
              <a:rPr sz="1200" b="1">
                <a:latin typeface="Pretendard"/>
                <a:ea typeface="Pretendard"/>
                <a:cs typeface="Pretendard"/>
              </a:rPr>
              <a:t>’ </a:t>
            </a:r>
            <a:r>
              <a:rPr sz="1200" b="1">
                <a:latin typeface="Pretendard"/>
                <a:ea typeface="Pretendard"/>
                <a:cs typeface="Pretendard"/>
              </a:rPr>
              <a:t>로 확장</a:t>
            </a:r>
            <a:endParaRPr sz="1200" b="1" kern="10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C1741E-D7D6-0E8A-C158-5D950DD4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8" y="2348430"/>
            <a:ext cx="878766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고속충전 프로토콜 최적화 </a:t>
            </a:r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DFN </a:t>
            </a:r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모델에 필요한 검증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0934C57-93B5-FB3A-D84F-2ACAEF05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51" y="2780928"/>
            <a:ext cx="44577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[1] </a:t>
            </a:r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충방전</a:t>
            </a:r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전압 정합도</a:t>
            </a:r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충방전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실험 데이터와 시뮬레이션 간 전압 오차 최소화 </a:t>
            </a:r>
            <a:endParaRPr sz="1000"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8" name="그림 17">
            <a:extLst xmlns:a="http://schemas.openxmlformats.org/drawingml/2006/main">
              <a:ext uri="{FF2B5EF4-FFF2-40B4-BE49-F238E27FC236}">
                <a16:creationId xmlns:a16="http://schemas.microsoft.com/office/drawing/2014/main" id="{A83014CF-55B9-4342-B1FB-BF3EF388E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cf8436ba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8581" y="3188434"/>
            <a:ext cx="2374259" cy="1824742"/>
          </a:xfrm>
          <a:prstGeom xmlns:a="http://schemas.openxmlformats.org/drawingml/2006/main" prst="rect">
            <a:avLst/>
          </a:prstGeom>
        </p:spPr>
      </p:pic>
      <p:pic>
        <p:nvPicPr>
          <p:cNvPr id="20" name="그림 19">
            <a:extLst xmlns:a="http://schemas.openxmlformats.org/drawingml/2006/main">
              <a:ext uri="{FF2B5EF4-FFF2-40B4-BE49-F238E27FC236}">
                <a16:creationId xmlns:a16="http://schemas.microsoft.com/office/drawing/2014/main" id="{88006217-8374-4C65-83A7-2C5BA5478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84c573ead40d9"/>
          <a:srcRect xmlns:a="http://schemas.openxmlformats.org/drawingml/2006/main" l="0" t="61206" r="67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6999" y="3068960"/>
            <a:ext cx="1738126" cy="1562844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181240-B071-A114-6B2D-EC628D60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005" y="4694947"/>
            <a:ext cx="4741539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[2] </a:t>
            </a:r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음극 전위 예측 타당성 확보</a:t>
            </a:r>
            <a:r>
              <a:rPr sz="1000" b="1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충전 시 음극 전위 예측을 통한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Li-plating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위험 제약 검토</a:t>
            </a:r>
            <a:endParaRPr sz="1000"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90B5FF-D0ED-9137-1BF6-9A34BDF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46" y="5373216"/>
            <a:ext cx="3944888" cy="527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주요 파라미터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배터리 전극 기하학적 특성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(Geometry),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활물질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입자 반경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(R),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고체상 확산계수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(Ds),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계면 반응속도상수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(k) </a:t>
            </a:r>
            <a:r>
              <a:rPr sz="10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및 전해질 수송물성 등</a:t>
            </a:r>
            <a:endParaRPr sz="1000"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3" name="그림 2">
            <a:extLst xmlns:a="http://schemas.openxmlformats.org/drawingml/2006/main">
              <a:ext uri="{FF2B5EF4-FFF2-40B4-BE49-F238E27FC236}">
                <a16:creationId xmlns:a16="http://schemas.microsoft.com/office/drawing/2014/main" id="{0B0ACB43-92EB-4757-8844-6D2F2BA95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5ce8504064980"/>
          <a:srcRect xmlns:a="http://schemas.openxmlformats.org/drawingml/2006/main" l="50043" t="-563" r="0" b="48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28104" y="4961710"/>
            <a:ext cx="2081280" cy="1753016"/>
          </a:xfrm>
          <a:prstGeom xmlns:a="http://schemas.openxmlformats.org/drawingml/2006/main" prst="rect">
            <a:avLst/>
          </a:prstGeom>
        </p:spPr>
      </p:pic>
      <p:pic>
        <p:nvPicPr>
          <p:cNvPr id="15" name="그림 14">
            <a:extLst xmlns:a="http://schemas.openxmlformats.org/drawingml/2006/main">
              <a:ext uri="{FF2B5EF4-FFF2-40B4-BE49-F238E27FC236}">
                <a16:creationId xmlns:a16="http://schemas.microsoft.com/office/drawing/2014/main" id="{384C4581-9F01-41A0-B759-6C09A3C45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b37c304f04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86719" y="4869160"/>
            <a:ext cx="282769" cy="323165"/>
          </a:xfrm>
          <a:prstGeom xmlns:a="http://schemas.openxmlformats.org/drawingml/2006/main" prst="rect">
            <a:avLst/>
          </a:prstGeom>
        </p:spPr>
      </p:pic>
      <p:sp>
        <p:nvSpPr>
          <p:cNvPr id="19" name="이등변 삼각형 18">
            <a:extLst xmlns:a="http://schemas.openxmlformats.org/drawingml/2006/main">
              <a:ext uri="{FF2B5EF4-FFF2-40B4-BE49-F238E27FC236}">
                <a16:creationId xmlns:a16="http://schemas.microsoft.com/office/drawing/2014/main" id="{7C0E66D6-5A1D-53B7-BDDD-83B1C70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3041720" y="4326032"/>
            <a:ext cx="3343591" cy="334952"/>
          </a:xfrm>
          <a:prstGeom xmlns:a="http://schemas.openxmlformats.org/drawingml/2006/main" prst="triangle">
            <a:avLst/>
          </a:prstGeom>
          <a:gradFill xmlns:a="http://schemas.openxmlformats.org/drawingml/2006/main">
            <a:gsLst>
              <a:gs pos="25000">
                <a:srgbClr val="7E8992">
                  <a:lumMod val="40000"/>
                  <a:lumOff val="60000"/>
                  <a:alpha val="0"/>
                </a:srgbClr>
              </a:gs>
              <a:gs pos="100000">
                <a:srgbClr val="7E8992">
                  <a:lumMod val="40000"/>
                  <a:lumOff val="60000"/>
                  <a:alpha val="80000"/>
                </a:srgbClr>
              </a:gs>
            </a:gsLst>
            <a:lin ang="162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이등변 삼각형 20">
            <a:extLst xmlns:a="http://schemas.openxmlformats.org/drawingml/2006/main">
              <a:ext uri="{FF2B5EF4-FFF2-40B4-BE49-F238E27FC236}">
                <a16:creationId xmlns:a16="http://schemas.microsoft.com/office/drawing/2014/main" id="{5061B2E1-642D-87A6-7384-66125F6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3849146" y="4326032"/>
            <a:ext cx="1728739" cy="334952"/>
          </a:xfrm>
          <a:prstGeom xmlns:a="http://schemas.openxmlformats.org/drawingml/2006/main" prst="triangle">
            <a:avLst/>
          </a:prstGeom>
          <a:gradFill xmlns:a="http://schemas.openxmlformats.org/drawingml/2006/main">
            <a:gsLst>
              <a:gs pos="17000">
                <a:srgbClr val="7E8992">
                  <a:lumMod val="40000"/>
                  <a:lumOff val="60000"/>
                  <a:alpha val="0"/>
                </a:srgbClr>
              </a:gs>
              <a:gs pos="88000">
                <a:srgbClr val="7E8992">
                  <a:lumMod val="40000"/>
                  <a:lumOff val="60000"/>
                  <a:alpha val="85000"/>
                </a:srgbClr>
              </a:gs>
            </a:gsLst>
            <a:lin ang="162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3C26063-5AA7-E800-21D4-0435A16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285" y="2443528"/>
            <a:ext cx="2141719" cy="33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latin typeface="Pretendard"/>
                <a:ea typeface="Pretendard"/>
                <a:cs typeface="Pretendard"/>
              </a:rPr>
              <a:t>파라미터 </a:t>
            </a:r>
            <a:r>
              <a:rPr sz="1200" b="1">
                <a:latin typeface="Pretendard"/>
                <a:ea typeface="Pretendard"/>
                <a:cs typeface="Pretendard"/>
              </a:rPr>
              <a:t>Fitting </a:t>
            </a:r>
            <a:r>
              <a:rPr sz="1200" b="1">
                <a:latin typeface="Pretendard"/>
                <a:ea typeface="Pretendard"/>
                <a:cs typeface="Pretendard"/>
              </a:rPr>
              <a:t>검증 목표</a:t>
            </a:r>
            <a:endParaRPr sz="1200" b="1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658241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제목 2">
            <a:extLst xmlns:a="http://schemas.openxmlformats.org/drawingml/2006/main">
              <a:ext uri="{FF2B5EF4-FFF2-40B4-BE49-F238E27FC236}">
                <a16:creationId xmlns:a16="http://schemas.microsoft.com/office/drawing/2014/main" id="{8B284653-6DAF-E72F-1CC9-CA9365EB0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233363"/>
            <a:ext cx="8915400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Ai2020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모델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Fitting</a:t>
            </a: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8E0322-ECBC-C79F-2744-1E5F8F9C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6" y="743134"/>
            <a:ext cx="619538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Ai2020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원본 모델의 검증 범위 및 한계</a:t>
            </a:r>
          </a:p>
        </p:txBody>
      </p:sp>
      <p:pic>
        <p:nvPicPr>
          <p:cNvPr id="13" name="그림 12">
            <a:extLst xmlns:a="http://schemas.openxmlformats.org/drawingml/2006/main">
              <a:ext uri="{FF2B5EF4-FFF2-40B4-BE49-F238E27FC236}">
                <a16:creationId xmlns:a16="http://schemas.microsoft.com/office/drawing/2014/main" id="{0AD5B543-5751-4971-BD5D-602E23485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206c6630f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91" y="4771033"/>
            <a:ext cx="4715533" cy="1238423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AF2C0C-AF4A-014F-0C81-F792BDAA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82" y="4042817"/>
            <a:ext cx="4586376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000" b="1">
                <a:latin typeface="Pretendard"/>
                <a:ea typeface="Pretendard"/>
                <a:cs typeface="Pretendard"/>
              </a:rPr>
              <a:t>셀 정보</a:t>
            </a:r>
            <a:r>
              <a:rPr sz="1000" b="1">
                <a:latin typeface="Pretendard"/>
                <a:ea typeface="Pretendard"/>
                <a:cs typeface="Pretendard"/>
              </a:rPr>
              <a:t>: Enertech LCO-G SPB655060(LCO, </a:t>
            </a:r>
            <a:r>
              <a:rPr sz="1000" b="1">
                <a:latin typeface="Pretendard"/>
                <a:ea typeface="Pretendard"/>
                <a:cs typeface="Pretendard"/>
              </a:rPr>
              <a:t>파우치셀</a:t>
            </a:r>
            <a:r>
              <a:rPr sz="1000" b="1">
                <a:latin typeface="Pretendard"/>
                <a:ea typeface="Pretendard"/>
                <a:cs typeface="Pretendard"/>
              </a:rPr>
              <a:t>)</a:t>
            </a:r>
            <a:endParaRPr sz="1000" b="1" kern="100">
              <a:latin typeface="Pretendard"/>
              <a:ea typeface="Pretendard"/>
              <a:cs typeface="Pretendard"/>
            </a:endParaRPr>
          </a:p>
        </p:txBody>
      </p:sp>
      <p:pic>
        <p:nvPicPr>
          <p:cNvPr id="14" name="그림 13">
            <a:extLst xmlns:a="http://schemas.openxmlformats.org/drawingml/2006/main">
              <a:ext uri="{FF2B5EF4-FFF2-40B4-BE49-F238E27FC236}">
                <a16:creationId xmlns:a16="http://schemas.microsoft.com/office/drawing/2014/main" id="{021F47B7-A2B2-4876-B3D5-E8A7CF726D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ba142afab48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9723" y="2708920"/>
            <a:ext cx="4655805" cy="1290556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>
            <a:extLst xmlns:a="http://schemas.openxmlformats.org/drawingml/2006/main">
              <a:ext uri="{FF2B5EF4-FFF2-40B4-BE49-F238E27FC236}">
                <a16:creationId xmlns:a16="http://schemas.microsoft.com/office/drawing/2014/main" id="{6D0C637D-5590-4864-A167-D82CD10FD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1b6f88b2041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597" y="2819427"/>
            <a:ext cx="1478995" cy="388321"/>
          </a:xfrm>
          <a:prstGeom xmlns:a="http://schemas.openxmlformats.org/drawingml/2006/main" prst="rect">
            <a:avLst/>
          </a:prstGeom>
        </p:spPr>
      </p:pic>
      <p:pic>
        <p:nvPicPr>
          <p:cNvPr id="18" name="그림 17">
            <a:extLst xmlns:a="http://schemas.openxmlformats.org/drawingml/2006/main">
              <a:ext uri="{FF2B5EF4-FFF2-40B4-BE49-F238E27FC236}">
                <a16:creationId xmlns:a16="http://schemas.microsoft.com/office/drawing/2014/main" id="{D6A897D4-EDF8-4708-A127-61628AF6F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57eebec5045a9"/>
          <a:srcRect xmlns:a="http://schemas.openxmlformats.org/drawingml/2006/main" l="0" t="663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08" y="3360909"/>
            <a:ext cx="4715534" cy="920355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5ED4016-CA3E-68E6-B12F-23E48D74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2" y="1168683"/>
            <a:ext cx="9505056" cy="11683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85750" indent="-285750">
              <a:lnSpc>
                <a:spcPct val="150000"/>
              </a:lnSpc>
              <a:buFont typeface="Wingdings"/>
              <a:buChar char="ü"/>
              <a:defRPr sz="1060" b="1">
                <a:solidFill>
                  <a:srgbClr val="2D2D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latin typeface="Pretendard"/>
                <a:ea typeface="Pretendard"/>
                <a:cs typeface="Pretendard"/>
              </a:rPr>
              <a:t>PybaMM Ai2020 </a:t>
            </a:r>
            <a:r>
              <a:rPr sz="1200">
                <a:latin typeface="Pretendard"/>
                <a:ea typeface="Pretendard"/>
                <a:cs typeface="Pretendard"/>
              </a:rPr>
              <a:t>모델 활용</a:t>
            </a:r>
            <a:r>
              <a:rPr sz="1200">
                <a:latin typeface="Pretendard"/>
                <a:ea typeface="Pretendard"/>
                <a:cs typeface="Pretendard"/>
              </a:rPr>
              <a:t>: </a:t>
            </a:r>
            <a:r>
              <a:rPr sz="1200">
                <a:latin typeface="Pretendard"/>
                <a:ea typeface="Pretendard"/>
                <a:cs typeface="Pretendard"/>
              </a:rPr>
              <a:t>상용 </a:t>
            </a:r>
            <a:r>
              <a:rPr sz="1200">
                <a:latin typeface="Pretendard"/>
                <a:ea typeface="Pretendard"/>
                <a:cs typeface="Pretendard"/>
              </a:rPr>
              <a:t>파우치셀</a:t>
            </a:r>
            <a:r>
              <a:rPr sz="1200">
                <a:latin typeface="Pretendard"/>
                <a:ea typeface="Pretendard"/>
                <a:cs typeface="Pretendard"/>
              </a:rPr>
              <a:t>(Enertech LCO/Graphite) </a:t>
            </a:r>
            <a:r>
              <a:rPr sz="1200">
                <a:latin typeface="Pretendard"/>
                <a:ea typeface="Pretendard"/>
                <a:cs typeface="Pretendard"/>
              </a:rPr>
              <a:t>대상 </a:t>
            </a:r>
            <a:r>
              <a:rPr sz="1200">
                <a:latin typeface="Pretendard"/>
                <a:ea typeface="Pretendard"/>
                <a:cs typeface="Pretendard"/>
              </a:rPr>
              <a:t>DFN </a:t>
            </a:r>
            <a:r>
              <a:rPr sz="1200">
                <a:latin typeface="Pretendard"/>
                <a:ea typeface="Pretendard"/>
                <a:cs typeface="Pretendard"/>
              </a:rPr>
              <a:t>모델</a:t>
            </a:r>
            <a:endParaRPr sz="12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Wingdings"/>
              <a:buChar char="ü"/>
              <a:defRPr sz="1060" b="1">
                <a:solidFill>
                  <a:srgbClr val="2D2D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latin typeface="Pretendard"/>
                <a:ea typeface="Pretendard"/>
                <a:cs typeface="Pretendard"/>
              </a:rPr>
              <a:t>가정 </a:t>
            </a:r>
            <a:r>
              <a:rPr sz="1200">
                <a:latin typeface="Pretendard"/>
                <a:ea typeface="Pretendard"/>
                <a:cs typeface="Pretendard"/>
              </a:rPr>
              <a:t>or </a:t>
            </a:r>
            <a:r>
              <a:rPr sz="1200">
                <a:latin typeface="Pretendard"/>
                <a:ea typeface="Pretendard"/>
                <a:cs typeface="Pretendard"/>
              </a:rPr>
              <a:t>문헌 값 기반 파라미터</a:t>
            </a:r>
            <a:r>
              <a:rPr sz="1200">
                <a:latin typeface="Pretendard"/>
                <a:ea typeface="Pretendard"/>
                <a:cs typeface="Pretendard"/>
              </a:rPr>
              <a:t>: </a:t>
            </a:r>
            <a:r>
              <a:rPr sz="1200" u="sng">
                <a:latin typeface="Pretendard"/>
                <a:ea typeface="Pretendard"/>
                <a:cs typeface="Pretendard"/>
              </a:rPr>
              <a:t>입자 반경</a:t>
            </a:r>
            <a:r>
              <a:rPr sz="1200" u="sng">
                <a:latin typeface="Pretendard"/>
                <a:ea typeface="Pretendard"/>
                <a:cs typeface="Pretendard"/>
              </a:rPr>
              <a:t>, </a:t>
            </a:r>
            <a:r>
              <a:rPr sz="1200" u="sng">
                <a:latin typeface="Pretendard"/>
                <a:ea typeface="Pretendard"/>
                <a:cs typeface="Pretendard"/>
              </a:rPr>
              <a:t>음극 </a:t>
            </a:r>
            <a:r>
              <a:rPr sz="1200" u="sng">
                <a:latin typeface="Pretendard"/>
                <a:ea typeface="Pretendard"/>
                <a:cs typeface="Pretendard"/>
              </a:rPr>
              <a:t>OCP, </a:t>
            </a:r>
            <a:r>
              <a:rPr sz="1200" u="sng">
                <a:latin typeface="Pretendard"/>
                <a:ea typeface="Pretendard"/>
                <a:cs typeface="Pretendard"/>
              </a:rPr>
              <a:t>Dsn</a:t>
            </a:r>
            <a:r>
              <a:rPr sz="1200" u="sng">
                <a:latin typeface="Pretendard"/>
                <a:ea typeface="Pretendard"/>
                <a:cs typeface="Pretendard"/>
              </a:rPr>
              <a:t>, Dsp, </a:t>
            </a:r>
            <a:r>
              <a:rPr sz="1200" u="sng">
                <a:latin typeface="Pretendard"/>
                <a:ea typeface="Pretendard"/>
                <a:cs typeface="Pretendard"/>
              </a:rPr>
              <a:t>kn</a:t>
            </a:r>
            <a:r>
              <a:rPr sz="1200" u="sng">
                <a:latin typeface="Pretendard"/>
                <a:ea typeface="Pretendard"/>
                <a:cs typeface="Pretendard"/>
              </a:rPr>
              <a:t>, </a:t>
            </a:r>
            <a:r>
              <a:rPr sz="1200" u="sng">
                <a:latin typeface="Pretendard"/>
                <a:ea typeface="Pretendard"/>
                <a:cs typeface="Pretendard"/>
              </a:rPr>
              <a:t>kp</a:t>
            </a:r>
            <a:r>
              <a:rPr sz="1200" u="sng">
                <a:latin typeface="Pretendard"/>
                <a:ea typeface="Pretendard"/>
                <a:cs typeface="Pretendard"/>
              </a:rPr>
              <a:t>, </a:t>
            </a:r>
            <a:r>
              <a:rPr sz="1200" u="sng">
                <a:latin typeface="Pretendard"/>
                <a:ea typeface="Pretendard"/>
                <a:cs typeface="Pretendard"/>
              </a:rPr>
              <a:t>전해질 </a:t>
            </a:r>
            <a:r>
              <a:rPr sz="1200" u="sng">
                <a:latin typeface="Pretendard"/>
                <a:ea typeface="Pretendard"/>
                <a:cs typeface="Pretendard"/>
              </a:rPr>
              <a:t>Parameterset</a:t>
            </a:r>
            <a:r>
              <a:rPr sz="1200">
                <a:latin typeface="Pretendard"/>
                <a:ea typeface="Pretendard"/>
                <a:cs typeface="Pretendard"/>
              </a:rPr>
              <a:t> </a:t>
            </a:r>
            <a:r>
              <a:rPr sz="1200">
                <a:latin typeface="Pretendard"/>
                <a:ea typeface="Pretendard"/>
                <a:cs typeface="Pretendard"/>
              </a:rPr>
              <a:t>등</a:t>
            </a:r>
            <a:endParaRPr sz="12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060" b="1">
                <a:solidFill>
                  <a:srgbClr val="2D2D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latin typeface="Pretendard"/>
                <a:ea typeface="Pretendard"/>
                <a:cs typeface="Pretendard"/>
              </a:rPr>
              <a:t> Ai2020 </a:t>
            </a:r>
            <a:r>
              <a:rPr sz="1200">
                <a:latin typeface="Pretendard"/>
                <a:ea typeface="Pretendard"/>
                <a:cs typeface="Pretendard"/>
              </a:rPr>
              <a:t>원본 모델은 방전 조건에서의 시뮬레이션 정합성을 검증하였으나 충전 전압 및 음극 전위 검증이 부족하며</a:t>
            </a:r>
            <a:r>
              <a:rPr sz="1200">
                <a:latin typeface="Pretendard"/>
                <a:ea typeface="Pretendard"/>
                <a:cs typeface="Pretendard"/>
              </a:rPr>
              <a:t>, </a:t>
            </a:r>
            <a:r>
              <a:rPr sz="1200">
                <a:latin typeface="Pretendard"/>
                <a:ea typeface="Pretendard"/>
                <a:cs typeface="Pretendard"/>
              </a:rPr>
              <a:t>일부 주요 파라미터는 </a:t>
            </a:r>
            <a:r>
              <a:rPr sz="1200">
                <a:latin typeface="Pretendard"/>
                <a:ea typeface="Pretendard"/>
                <a:cs typeface="Pretendard"/>
              </a:rPr>
              <a:t>가정값</a:t>
            </a:r>
            <a:r>
              <a:rPr sz="1200">
                <a:latin typeface="Pretendard"/>
                <a:ea typeface="Pretendard"/>
                <a:cs typeface="Pretendard"/>
              </a:rPr>
              <a:t> 또는 </a:t>
            </a:r>
            <a:r>
              <a:rPr sz="1200">
                <a:latin typeface="Pretendard"/>
                <a:ea typeface="Pretendard"/>
                <a:cs typeface="Pretendard"/>
              </a:rPr>
              <a:t>문헌값을</a:t>
            </a:r>
            <a:r>
              <a:rPr sz="1200">
                <a:latin typeface="Pretendard"/>
                <a:ea typeface="Pretendard"/>
                <a:cs typeface="Pretendard"/>
              </a:rPr>
              <a:t> 사용하여 고속충전 프로토콜 최적화에 적용하기 위해서는 추가적인 파라미터 검증이 필요함</a:t>
            </a:r>
            <a:r>
              <a:rPr sz="1200">
                <a:latin typeface="Pretendard"/>
                <a:ea typeface="Pretendard"/>
                <a:cs typeface="Pretendard"/>
              </a:rPr>
              <a:t>.</a:t>
            </a:r>
            <a:endParaRPr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직선 연결선 22">
            <a:extLst xmlns:a="http://schemas.openxmlformats.org/drawingml/2006/main">
              <a:ext uri="{FF2B5EF4-FFF2-40B4-BE49-F238E27FC236}">
                <a16:creationId xmlns:a16="http://schemas.microsoft.com/office/drawing/2014/main" id="{16D36655-A481-474F-BD09-852934E0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06" y="3792956"/>
            <a:ext cx="127454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화살표: 아래쪽 25">
            <a:extLst xmlns:a="http://schemas.openxmlformats.org/drawingml/2006/main">
              <a:ext uri="{FF2B5EF4-FFF2-40B4-BE49-F238E27FC236}">
                <a16:creationId xmlns:a16="http://schemas.microsoft.com/office/drawing/2014/main" id="{6A2FB3F9-31B1-CA2F-E553-1124FF11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974" y="4353272"/>
            <a:ext cx="216403" cy="295095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그림 19">
            <a:extLst xmlns:a="http://schemas.openxmlformats.org/drawingml/2006/main">
              <a:ext uri="{FF2B5EF4-FFF2-40B4-BE49-F238E27FC236}">
                <a16:creationId xmlns:a16="http://schemas.microsoft.com/office/drawing/2014/main" id="{1F3D2385-F297-4C45-8DDF-DCC20EA4E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089de734444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09840" y="4731058"/>
            <a:ext cx="2091468" cy="1886047"/>
          </a:xfrm>
          <a:prstGeom xmlns:a="http://schemas.openxmlformats.org/drawingml/2006/main" prst="rect">
            <a:avLst/>
          </a:prstGeom>
        </p:spPr>
      </p:pic>
      <p:pic>
        <p:nvPicPr>
          <p:cNvPr id="28" name="그림 27">
            <a:extLst xmlns:a="http://schemas.openxmlformats.org/drawingml/2006/main">
              <a:ext uri="{FF2B5EF4-FFF2-40B4-BE49-F238E27FC236}">
                <a16:creationId xmlns:a16="http://schemas.microsoft.com/office/drawing/2014/main" id="{A437EA78-CEB3-435A-9DB9-ACAC90F56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c01b205ea40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61249" y="4754858"/>
            <a:ext cx="207686" cy="180070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6A526C7-66EA-A11A-5AB5-F9318CE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166" y="4387744"/>
            <a:ext cx="4655805" cy="33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Wingdings"/>
              <a:buChar char="Ø"/>
              <a:defRPr sz="1060" b="1">
                <a:solidFill>
                  <a:srgbClr val="2D2D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latin typeface="Pretendard"/>
                <a:ea typeface="Pretendard"/>
                <a:cs typeface="Pretendard"/>
              </a:rPr>
              <a:t>원 논문 검증 범위</a:t>
            </a:r>
            <a:r>
              <a:rPr sz="1200">
                <a:latin typeface="Pretendard"/>
                <a:ea typeface="Pretendard"/>
                <a:cs typeface="Pretendard"/>
              </a:rPr>
              <a:t>: </a:t>
            </a:r>
            <a:r>
              <a:rPr sz="1200">
                <a:latin typeface="Pretendard"/>
                <a:ea typeface="Pretendard"/>
                <a:cs typeface="Pretendard"/>
              </a:rPr>
              <a:t>방전 조건에서의 전압</a:t>
            </a:r>
            <a:r>
              <a:rPr sz="1200">
                <a:latin typeface="Pretendard"/>
                <a:ea typeface="Pretendard"/>
                <a:cs typeface="Pretendard"/>
              </a:rPr>
              <a:t>, </a:t>
            </a:r>
            <a:r>
              <a:rPr sz="1200">
                <a:latin typeface="Pretendard"/>
                <a:ea typeface="Pretendard"/>
                <a:cs typeface="Pretendard"/>
              </a:rPr>
              <a:t>온도</a:t>
            </a:r>
            <a:r>
              <a:rPr sz="1200">
                <a:latin typeface="Pretendard"/>
                <a:ea typeface="Pretendard"/>
                <a:cs typeface="Pretendard"/>
              </a:rPr>
              <a:t>, </a:t>
            </a:r>
            <a:r>
              <a:rPr sz="1200">
                <a:latin typeface="Pretendard"/>
                <a:ea typeface="Pretendard"/>
                <a:cs typeface="Pretendard"/>
              </a:rPr>
              <a:t>셀 두께 변화</a:t>
            </a:r>
            <a:endParaRPr sz="1200">
              <a:latin typeface="Pretendard"/>
              <a:ea typeface="Pretendard"/>
              <a:cs typeface="Pretendard"/>
            </a:endParaRPr>
          </a:p>
        </p:txBody>
      </p:sp>
      <p:pic>
        <p:nvPicPr>
          <p:cNvPr id="33" name="그림 32">
            <a:extLst xmlns:a="http://schemas.openxmlformats.org/drawingml/2006/main">
              <a:ext uri="{FF2B5EF4-FFF2-40B4-BE49-F238E27FC236}">
                <a16:creationId xmlns:a16="http://schemas.microsoft.com/office/drawing/2014/main" id="{D982021B-1B1D-4D45-BBC1-14E253A0F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5c55448d4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035531" y="4711305"/>
            <a:ext cx="2140060" cy="1886047"/>
          </a:xfrm>
          <a:prstGeom xmlns:a="http://schemas.openxmlformats.org/drawingml/2006/main" prst="rect">
            <a:avLst/>
          </a:prstGeom>
        </p:spPr>
      </p:pic>
      <p:pic>
        <p:nvPicPr>
          <p:cNvPr id="35" name="그림 34">
            <a:extLst xmlns:a="http://schemas.openxmlformats.org/drawingml/2006/main">
              <a:ext uri="{FF2B5EF4-FFF2-40B4-BE49-F238E27FC236}">
                <a16:creationId xmlns:a16="http://schemas.microsoft.com/office/drawing/2014/main" id="{CCCD64BC-D759-4377-87A3-D6C5028CC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3f15941c94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969224" y="4696070"/>
            <a:ext cx="307066" cy="3070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274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제목 2">
            <a:extLst xmlns:a="http://schemas.openxmlformats.org/drawingml/2006/main">
              <a:ext uri="{FF2B5EF4-FFF2-40B4-BE49-F238E27FC236}">
                <a16:creationId xmlns:a16="http://schemas.microsoft.com/office/drawing/2014/main" id="{E94EC8B3-A5C1-97C8-EC9D-AE04BDA82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233363"/>
            <a:ext cx="8915400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Ai2020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모델 </a:t>
            </a:r>
            <a:r>
              <a:rPr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  <a:cs typeface="Pretendard"/>
              </a:rPr>
              <a:t>Fitting</a:t>
            </a: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6DB9A69-231E-B234-578F-437A89F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6" y="743134"/>
            <a:ext cx="619538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Fitting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과정 요약</a:t>
            </a:r>
          </a:p>
        </p:txBody>
      </p:sp>
      <p:pic>
        <p:nvPicPr>
          <p:cNvPr id="30" name="Picture 8">
            <a:extLst xmlns:a="http://schemas.openxmlformats.org/drawingml/2006/main">
              <a:ext uri="{FF2B5EF4-FFF2-40B4-BE49-F238E27FC236}">
                <a16:creationId xmlns:a16="http://schemas.microsoft.com/office/drawing/2014/main" id="{B14FC668-5D58-45C7-8273-9B9BF02E6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64cd72e8048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0043" y="2459360"/>
            <a:ext cx="6225613" cy="1874169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50A041F-998B-D5E5-6B90-151D33E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" y="6633295"/>
            <a:ext cx="4572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"/>
              <a:t>Journal</a:t>
            </a:r>
            <a:r>
              <a:rPr sz="800"/>
              <a:t> of The </a:t>
            </a:r>
            <a:r>
              <a:rPr sz="800"/>
              <a:t>Electrochemical</a:t>
            </a:r>
            <a:r>
              <a:rPr sz="800"/>
              <a:t> </a:t>
            </a:r>
            <a:r>
              <a:rPr sz="800"/>
              <a:t>Society</a:t>
            </a:r>
            <a:r>
              <a:rPr sz="800"/>
              <a:t>, 2024 171 090522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CEDB55-F750-8C1F-AE96-B014AC94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37" y="1133060"/>
            <a:ext cx="922238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Pretendard"/>
                <a:ea typeface="Pretendard"/>
                <a:cs typeface="Pretendard"/>
              </a:rPr>
              <a:t>선행연구 단계별 파라미터 최적화 참고</a:t>
            </a:r>
            <a:r>
              <a:rPr sz="1200">
                <a:latin typeface="Pretendard"/>
                <a:ea typeface="Pretendard"/>
                <a:cs typeface="Pretendard"/>
              </a:rPr>
              <a:t>:</a:t>
            </a:r>
          </a:p>
          <a:p xmlns:a="http://schemas.openxmlformats.org/drawingml/2006/main">
            <a:r>
              <a:rPr sz="1200">
                <a:latin typeface="Pretendard"/>
                <a:ea typeface="Pretendard"/>
                <a:cs typeface="Pretendard"/>
              </a:rPr>
              <a:t>COBRAPRO: An Open-Source Software for the Doyle-Fuller-Newman Model with Co-Simulation Parameter Optimization Framework</a:t>
            </a:r>
          </a:p>
        </p:txBody>
      </p:sp>
      <p:sp>
        <p:nvSpPr>
          <p:cNvPr id="33" name="Rounded Rectangle 8196">
            <a:extLst xmlns:a="http://schemas.openxmlformats.org/drawingml/2006/main">
              <a:ext uri="{FF2B5EF4-FFF2-40B4-BE49-F238E27FC236}">
                <a16:creationId xmlns:a16="http://schemas.microsoft.com/office/drawing/2014/main" id="{006BB751-70E5-42E3-62E6-0861B386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43" y="5090400"/>
            <a:ext cx="1700331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5A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0</a:t>
            </a:r>
            <a:r>
              <a:rPr sz="1000">
                <a:latin typeface="Pretendard"/>
                <a:ea typeface="Pretendard"/>
                <a:cs typeface="Pretendard"/>
              </a:rPr>
              <a:t>단계</a:t>
            </a:r>
            <a:r>
              <a:rPr sz="1000">
                <a:latin typeface="Pretendard"/>
                <a:ea typeface="Pretendard"/>
                <a:cs typeface="Pretendard"/>
              </a:rPr>
              <a:t>. 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기하학 파라미터 고정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Rounded Rectangle 8197">
            <a:extLst xmlns:a="http://schemas.openxmlformats.org/drawingml/2006/main">
              <a:ext uri="{FF2B5EF4-FFF2-40B4-BE49-F238E27FC236}">
                <a16:creationId xmlns:a16="http://schemas.microsoft.com/office/drawing/2014/main" id="{89DD2A90-EBFA-AD6A-29BB-AB70A3D2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43" y="5593320"/>
            <a:ext cx="1700331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2700">
            <a:solidFill>
              <a:srgbClr val="6E8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전극 두께</a:t>
            </a:r>
            <a:r>
              <a:rPr sz="1000">
                <a:latin typeface="Pretendard"/>
                <a:ea typeface="Pretendard"/>
                <a:cs typeface="Pretendard"/>
              </a:rPr>
              <a:t>, </a:t>
            </a:r>
            <a:r>
              <a:rPr sz="1000">
                <a:latin typeface="Pretendard"/>
                <a:ea typeface="Pretendard"/>
                <a:cs typeface="Pretendard"/>
              </a:rPr>
              <a:t>공극률</a:t>
            </a:r>
            <a:r>
              <a:rPr sz="1000">
                <a:latin typeface="Pretendard"/>
                <a:ea typeface="Pretendard"/>
                <a:cs typeface="Pretendard"/>
              </a:rPr>
              <a:t>, </a:t>
            </a:r>
            <a:r>
              <a:rPr sz="1000">
                <a:latin typeface="Pretendard"/>
                <a:ea typeface="Pretendard"/>
                <a:cs typeface="Pretendard"/>
              </a:rPr>
              <a:t>면적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등 기본 기하학 파라미터 설정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Connector 8198">
            <a:extLst xmlns:a="http://schemas.openxmlformats.org/drawingml/2006/main">
              <a:ext uri="{FF2B5EF4-FFF2-40B4-BE49-F238E27FC236}">
                <a16:creationId xmlns:a16="http://schemas.microsoft.com/office/drawing/2014/main" id="{6BBC4BF1-CD88-4448-A4A9-0096D9A3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559" y="612139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35A9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5" name="Picture 4">
            <a:extLst xmlns:a="http://schemas.openxmlformats.org/drawingml/2006/main">
              <a:ext uri="{FF2B5EF4-FFF2-40B4-BE49-F238E27FC236}">
                <a16:creationId xmlns:a16="http://schemas.microsoft.com/office/drawing/2014/main" id="{E7C49EEE-24A7-4E2B-9AE5-415AAFEF6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3f9f8fef945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344" y="2392340"/>
            <a:ext cx="1993900" cy="1775644"/>
          </a:xfrm>
          <a:prstGeom xmlns:a="http://schemas.openxmlformats.org/drawingml/2006/main" prst="rect">
            <a:avLst/>
          </a:prstGeom>
        </p:spPr>
      </p:pic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AF2D2F1-FCB6-D961-1F78-652F847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1628800"/>
            <a:ext cx="9222385" cy="6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Wingdings"/>
              <a:buChar char="ü"/>
              <a:defRPr sz="1060" b="1">
                <a:solidFill>
                  <a:srgbClr val="2D2D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latin typeface="Pretendard"/>
                <a:ea typeface="Pretendard"/>
                <a:cs typeface="Pretendard"/>
              </a:rPr>
              <a:t>본 논문은 </a:t>
            </a:r>
            <a:r>
              <a:rPr sz="1200">
                <a:latin typeface="Pretendard"/>
                <a:ea typeface="Pretendard"/>
                <a:cs typeface="Pretendard"/>
              </a:rPr>
              <a:t>DFN </a:t>
            </a:r>
            <a:r>
              <a:rPr sz="1200">
                <a:latin typeface="Pretendard"/>
                <a:ea typeface="Pretendard"/>
                <a:cs typeface="Pretendard"/>
              </a:rPr>
              <a:t>모델의 모든 파라미터를 동시에 </a:t>
            </a:r>
            <a:r>
              <a:rPr sz="1200">
                <a:latin typeface="Pretendard"/>
                <a:ea typeface="Pretendard"/>
                <a:cs typeface="Pretendard"/>
              </a:rPr>
              <a:t>fitting</a:t>
            </a:r>
            <a:r>
              <a:rPr sz="1200">
                <a:latin typeface="Pretendard"/>
                <a:ea typeface="Pretendard"/>
                <a:cs typeface="Pretendard"/>
              </a:rPr>
              <a:t>하지 않고</a:t>
            </a:r>
            <a:r>
              <a:rPr sz="1200">
                <a:latin typeface="Pretendard"/>
                <a:ea typeface="Pretendard"/>
                <a:cs typeface="Pretendard"/>
              </a:rPr>
              <a:t>, tear-down </a:t>
            </a:r>
            <a:r>
              <a:rPr sz="1200">
                <a:latin typeface="Pretendard"/>
                <a:ea typeface="Pretendard"/>
                <a:cs typeface="Pretendard"/>
              </a:rPr>
              <a:t>및 실험값 기반으로 일부 파라미터를 먼저</a:t>
            </a:r>
            <a:r>
              <a:rPr sz="1200">
                <a:latin typeface="Pretendard"/>
                <a:ea typeface="Pretendard"/>
                <a:cs typeface="Pretendard"/>
              </a:rPr>
              <a:t> </a:t>
            </a:r>
            <a:r>
              <a:rPr sz="1200">
                <a:latin typeface="Pretendard"/>
                <a:ea typeface="Pretendard"/>
                <a:cs typeface="Pretendard"/>
              </a:rPr>
              <a:t>고정한뒤</a:t>
            </a:r>
            <a:r>
              <a:rPr sz="1200">
                <a:latin typeface="Pretendard"/>
                <a:ea typeface="Pretendard"/>
                <a:cs typeface="Pretendard"/>
              </a:rPr>
              <a:t>, stoichiometry, transport, kinetic parameter</a:t>
            </a:r>
            <a:r>
              <a:rPr sz="1200">
                <a:latin typeface="Pretendard"/>
                <a:ea typeface="Pretendard"/>
                <a:cs typeface="Pretendard"/>
              </a:rPr>
              <a:t>를 단계적으로 식별하는 </a:t>
            </a:r>
            <a:r>
              <a:rPr sz="1200">
                <a:latin typeface="Pretendard"/>
                <a:ea typeface="Pretendard"/>
                <a:cs typeface="Pretendard"/>
              </a:rPr>
              <a:t>parameterization workflow</a:t>
            </a:r>
            <a:r>
              <a:rPr sz="1200">
                <a:latin typeface="Pretendard"/>
                <a:ea typeface="Pretendard"/>
                <a:cs typeface="Pretendard"/>
              </a:rPr>
              <a:t>를 제시한 연구임</a:t>
            </a:r>
            <a:r>
              <a:rPr sz="1200">
                <a:latin typeface="Pretendard"/>
                <a:ea typeface="Pretendard"/>
                <a:cs typeface="Pretendard"/>
              </a:rPr>
              <a:t>.</a:t>
            </a:r>
            <a:endParaRPr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Rounded Rectangle 8196">
            <a:extLst xmlns:a="http://schemas.openxmlformats.org/drawingml/2006/main">
              <a:ext uri="{FF2B5EF4-FFF2-40B4-BE49-F238E27FC236}">
                <a16:creationId xmlns:a16="http://schemas.microsoft.com/office/drawing/2014/main" id="{955A4CAC-AA6F-9B0C-4F4C-2FB2DF2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159" y="5090400"/>
            <a:ext cx="1700331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5A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1</a:t>
            </a:r>
            <a:r>
              <a:rPr sz="1000">
                <a:latin typeface="Pretendard"/>
                <a:ea typeface="Pretendard"/>
                <a:cs typeface="Pretendard"/>
              </a:rPr>
              <a:t>단계</a:t>
            </a:r>
            <a:r>
              <a:rPr sz="1000">
                <a:latin typeface="Pretendard"/>
                <a:ea typeface="Pretendard"/>
                <a:cs typeface="Pretendard"/>
              </a:rPr>
              <a:t>. 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Stoichometry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보정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Rounded Rectangle 8197">
            <a:extLst xmlns:a="http://schemas.openxmlformats.org/drawingml/2006/main">
              <a:ext uri="{FF2B5EF4-FFF2-40B4-BE49-F238E27FC236}">
                <a16:creationId xmlns:a16="http://schemas.microsoft.com/office/drawing/2014/main" id="{CC65BF45-B89F-352F-7BB8-842CD2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159" y="5593320"/>
            <a:ext cx="1700331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2700">
            <a:solidFill>
              <a:srgbClr val="6E8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저율 실험 기반 </a:t>
            </a:r>
            <a:r>
              <a:rPr sz="1000">
                <a:latin typeface="Pretendard"/>
                <a:ea typeface="Pretendard"/>
                <a:cs typeface="Pretendard"/>
              </a:rPr>
              <a:t>OCP </a:t>
            </a:r>
            <a:r>
              <a:rPr sz="1000">
                <a:latin typeface="Pretendard"/>
                <a:ea typeface="Pretendard"/>
                <a:cs typeface="Pretendard"/>
              </a:rPr>
              <a:t>추출</a:t>
            </a:r>
            <a:endParaRPr sz="10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171450" indent="-171450" algn="ctr">
              <a:spcAft>
                <a:spcPts val="300"/>
              </a:spcAft>
              <a:buFont typeface="Wingdings"/>
              <a:buChar char="à"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Stoichiometry 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window </a:t>
            </a:r>
            <a:r>
              <a:rPr sz="1000">
                <a:latin typeface="Pretendard"/>
                <a:ea typeface="Pretendard"/>
                <a:cs typeface="Pretendard"/>
              </a:rPr>
              <a:t>최적화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Connector 8198">
            <a:extLst xmlns:a="http://schemas.openxmlformats.org/drawingml/2006/main">
              <a:ext uri="{FF2B5EF4-FFF2-40B4-BE49-F238E27FC236}">
                <a16:creationId xmlns:a16="http://schemas.microsoft.com/office/drawing/2014/main" id="{6AFA40C6-E900-4C5E-A39B-76618BC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75" y="612139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35A9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Rounded Rectangle 8196">
            <a:extLst xmlns:a="http://schemas.openxmlformats.org/drawingml/2006/main">
              <a:ext uri="{FF2B5EF4-FFF2-40B4-BE49-F238E27FC236}">
                <a16:creationId xmlns:a16="http://schemas.microsoft.com/office/drawing/2014/main" id="{C32BF9DA-47C8-029B-5F67-B6AE24F6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375" y="5085184"/>
            <a:ext cx="1700331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5A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2</a:t>
            </a:r>
            <a:r>
              <a:rPr sz="1000">
                <a:latin typeface="Pretendard"/>
                <a:ea typeface="Pretendard"/>
                <a:cs typeface="Pretendard"/>
              </a:rPr>
              <a:t>단계</a:t>
            </a:r>
            <a:r>
              <a:rPr sz="1000">
                <a:latin typeface="Pretendard"/>
                <a:ea typeface="Pretendard"/>
                <a:cs typeface="Pretendard"/>
              </a:rPr>
              <a:t>. </a:t>
            </a:r>
            <a:r>
              <a:rPr sz="1000">
                <a:latin typeface="Pretendard"/>
                <a:ea typeface="Pretendard"/>
                <a:cs typeface="Pretendard"/>
              </a:rPr>
              <a:t> Transport/Kinetic </a:t>
            </a:r>
            <a:r>
              <a:rPr sz="1000">
                <a:latin typeface="Pretendard"/>
                <a:ea typeface="Pretendard"/>
                <a:cs typeface="Pretendard"/>
              </a:rPr>
              <a:t>파라미터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Rounded Rectangle 8197">
            <a:extLst xmlns:a="http://schemas.openxmlformats.org/drawingml/2006/main">
              <a:ext uri="{FF2B5EF4-FFF2-40B4-BE49-F238E27FC236}">
                <a16:creationId xmlns:a16="http://schemas.microsoft.com/office/drawing/2014/main" id="{70AA6EAE-C4E3-3F41-3839-5568302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375" y="5588104"/>
            <a:ext cx="1700331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2700">
            <a:solidFill>
              <a:srgbClr val="6E8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고체 확산계수</a:t>
            </a:r>
            <a:r>
              <a:rPr sz="1000">
                <a:latin typeface="Pretendard"/>
                <a:ea typeface="Pretendard"/>
                <a:cs typeface="Pretendard"/>
              </a:rPr>
              <a:t>(Ds), 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반응속도상수</a:t>
            </a:r>
            <a:r>
              <a:rPr sz="1000">
                <a:latin typeface="Pretendard"/>
                <a:ea typeface="Pretendard"/>
                <a:cs typeface="Pretendard"/>
              </a:rPr>
              <a:t>(k)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실험값 반영 </a:t>
            </a:r>
            <a:r>
              <a:rPr sz="1000">
                <a:latin typeface="Pretendard"/>
                <a:ea typeface="Pretendard"/>
                <a:cs typeface="Pretendard"/>
              </a:rPr>
              <a:t>or Fitting </a:t>
            </a:r>
            <a:r>
              <a:rPr sz="1000">
                <a:latin typeface="Pretendard"/>
                <a:ea typeface="Pretendard"/>
                <a:cs typeface="Pretendard"/>
              </a:rPr>
              <a:t>검토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Connector 8198">
            <a:extLst xmlns:a="http://schemas.openxmlformats.org/drawingml/2006/main">
              <a:ext uri="{FF2B5EF4-FFF2-40B4-BE49-F238E27FC236}">
                <a16:creationId xmlns:a16="http://schemas.microsoft.com/office/drawing/2014/main" id="{A5D4B74A-7F1B-4624-9FA7-F80C6C7C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991" y="612139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35A9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0" name="Rounded Rectangle 8196">
            <a:extLst xmlns:a="http://schemas.openxmlformats.org/drawingml/2006/main">
              <a:ext uri="{FF2B5EF4-FFF2-40B4-BE49-F238E27FC236}">
                <a16:creationId xmlns:a16="http://schemas.microsoft.com/office/drawing/2014/main" id="{FCD1D2B3-F1F6-C0D5-7999-44B23162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69" y="5085184"/>
            <a:ext cx="1700331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5A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3</a:t>
            </a:r>
            <a:r>
              <a:rPr sz="1000">
                <a:latin typeface="Pretendard"/>
                <a:ea typeface="Pretendard"/>
                <a:cs typeface="Pretendard"/>
              </a:rPr>
              <a:t>단계</a:t>
            </a:r>
            <a:r>
              <a:rPr sz="1000">
                <a:latin typeface="Pretendard"/>
                <a:ea typeface="Pretendard"/>
                <a:cs typeface="Pretendard"/>
              </a:rPr>
              <a:t>. 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전해질</a:t>
            </a:r>
            <a:endParaRPr sz="10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ctr">
              <a:buNone/>
              <a:def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Parameterset</a:t>
            </a:r>
            <a:r>
              <a:rPr sz="1000">
                <a:latin typeface="Pretendard"/>
                <a:ea typeface="Pretendard"/>
                <a:cs typeface="Pretendard"/>
              </a:rPr>
              <a:t> </a:t>
            </a:r>
            <a:r>
              <a:rPr sz="1000">
                <a:latin typeface="Pretendard"/>
                <a:ea typeface="Pretendard"/>
                <a:cs typeface="Pretendard"/>
              </a:rPr>
              <a:t>설정</a:t>
            </a:r>
            <a:endParaRPr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Rounded Rectangle 8197">
            <a:extLst xmlns:a="http://schemas.openxmlformats.org/drawingml/2006/main">
              <a:ext uri="{FF2B5EF4-FFF2-40B4-BE49-F238E27FC236}">
                <a16:creationId xmlns:a16="http://schemas.microsoft.com/office/drawing/2014/main" id="{0DB9F77F-E0AD-E788-B555-0F88FBD5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069" y="5588104"/>
            <a:ext cx="1700331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12700">
            <a:solidFill>
              <a:srgbClr val="6E8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전해질 물성 모델 선택</a:t>
            </a:r>
            <a:endParaRPr sz="10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Transport/Kinetic </a:t>
            </a:r>
          </a:p>
          <a:p xmlns:a="http://schemas.openxmlformats.org/drawingml/2006/main">
            <a:pPr algn="ctr">
              <a:spcAft>
                <a:spcPts val="300"/>
              </a:spcAft>
              <a:buNone/>
              <a:defRPr sz="850">
                <a:solidFill>
                  <a:srgbClr val="282828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latin typeface="Pretendard"/>
                <a:ea typeface="Pretendard"/>
                <a:cs typeface="Pretendard"/>
              </a:rPr>
              <a:t>재</a:t>
            </a:r>
            <a:r>
              <a:rPr sz="1000">
                <a:latin typeface="Pretendard"/>
                <a:ea typeface="Pretendard"/>
                <a:cs typeface="Pretendard"/>
              </a:rPr>
              <a:t>Fitting</a:t>
            </a:r>
          </a:p>
        </p:txBody>
      </p:sp>
      <p:sp>
        <p:nvSpPr>
          <p:cNvPr id="8192" name="TextBox 8191">
            <a:extLst xmlns:a="http://schemas.openxmlformats.org/drawingml/2006/main">
              <a:ext uri="{FF2B5EF4-FFF2-40B4-BE49-F238E27FC236}">
                <a16:creationId xmlns:a16="http://schemas.microsoft.com/office/drawing/2014/main" id="{70A10B3B-18F7-A6EA-F3A3-BE04CCDA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8" y="4365104"/>
            <a:ext cx="878766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Parameterization Workflow(</a:t>
            </a:r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단계적 파라미터 식별</a:t>
            </a:r>
            <a:r>
              <a:rPr sz="15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)</a:t>
            </a:r>
            <a:endParaRPr sz="1500" b="1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199" name="TextBox 8198">
            <a:extLst xmlns:a="http://schemas.openxmlformats.org/drawingml/2006/main">
              <a:ext uri="{FF2B5EF4-FFF2-40B4-BE49-F238E27FC236}">
                <a16:creationId xmlns:a16="http://schemas.microsoft.com/office/drawing/2014/main" id="{1171EDF5-2E55-CAF4-D03C-23C6AFE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26" y="4635779"/>
            <a:ext cx="7946958" cy="33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※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최종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DFN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모델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Fitting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목표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: [1]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충방전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 전압 정확도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[2] </a:t>
            </a:r>
            <a:r>
              <a:rPr sz="1200" b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음극 전위 예측 타당성 확보 </a:t>
            </a:r>
            <a:endParaRPr sz="1200" b="1">
              <a:solidFill>
                <a:srgbClr val="FF0000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75232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61071-5E8C-4FB6-B1BF-E4D775B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Ai2020 모델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5DFA7-A031-4581-A4F2-DF83FE0A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CA435-0C36-48EC-AE06-9DBE061D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[1단계] OCP 2가지 버전과 stoichiometry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FFB7-9194-4DE7-A408-6D22107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56082"/>
                </a:solidFill>
              </a:defRPr>
            </a:defPPr>
            <a:lvl1pPr algn="l">
              <a:defRPr sz="1275" b="1">
                <a:solidFill>
                  <a:srgbClr val="156082"/>
                </a:solidFill>
              </a:defRPr>
            </a:lvl1pPr>
            <a:lvl2pPr algn="l">
              <a:defRPr sz="1275" b="1">
                <a:solidFill>
                  <a:srgbClr val="156082"/>
                </a:solidFill>
              </a:defRPr>
            </a:lvl2pPr>
            <a:lvl3pPr algn="l">
              <a:defRPr sz="1275" b="1">
                <a:solidFill>
                  <a:srgbClr val="156082"/>
                </a:solidFill>
              </a:defRPr>
            </a:lvl3pPr>
            <a:lvl4pPr algn="l">
              <a:defRPr sz="1275" b="1">
                <a:solidFill>
                  <a:srgbClr val="156082"/>
                </a:solidFill>
              </a:defRPr>
            </a:lvl4pPr>
            <a:lvl5pPr algn="l">
              <a:defRPr sz="1275" b="1">
                <a:solidFill>
                  <a:srgbClr val="156082"/>
                </a:solidFill>
              </a:defRPr>
            </a:lvl5pPr>
            <a:lvl6pPr algn="l">
              <a:defRPr sz="1275" b="1">
                <a:solidFill>
                  <a:srgbClr val="156082"/>
                </a:solidFill>
              </a:defRPr>
            </a:lvl6pPr>
            <a:lvl7pPr algn="l">
              <a:defRPr sz="1275" b="1">
                <a:solidFill>
                  <a:srgbClr val="156082"/>
                </a:solidFill>
              </a:defRPr>
            </a:lvl7pPr>
            <a:lvl8pPr algn="l">
              <a:defRPr sz="1275" b="1">
                <a:solidFill>
                  <a:srgbClr val="156082"/>
                </a:solidFill>
              </a:defRPr>
            </a:lvl8pPr>
            <a:lvl9pPr algn="l">
              <a:defRPr sz="127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같은 셀의 C/50 qOCV를 각 OCP로 재구성하고, window에 맞춰 cₛ,max를 각각 계산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14D7C-C7D4-4C69-94F0-89671192D24E}"/>
              </a:ext>
            </a:extLst>
          </p:cNvPr>
          <p:cNvGraphicFramePr/>
          <p:nvPr/>
        </p:nvGraphicFramePr>
        <p:xfrm>
          <a:off xmlns:a="http://schemas.openxmlformats.org/drawingml/2006/main" x="466725" y="1809750"/>
          <a:ext xmlns:a="http://schemas.openxmlformats.org/drawingml/2006/main" cx="8991600" cy="1447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98320"/>
                <a:gridCol w="1798320"/>
                <a:gridCol w="1798320"/>
                <a:gridCol w="1798320"/>
                <a:gridCol w="179832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음극 OCP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x₀ / x₁₀₀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y₀ / y₁₀₀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cₛ,max,n (mol m⁻³)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cₛ,max,p (mol m⁻³)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Ai2020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0.003803 / 0.954167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0.970716 / 0.431646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25,184.17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49,143.14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Measured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0.002150 / 0.739784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0.976291 / 0.448293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32,447.1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50,174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58DCF-E56C-4D71-BD5F-1F8DD479B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aaa3864b94d85"/>
          <a:stretch xmlns:a="http://schemas.openxmlformats.org/drawingml/2006/main"/>
        </p:blipFill>
        <p:spPr>
          <a:xfrm xmlns:a="http://schemas.openxmlformats.org/drawingml/2006/main">
            <a:off x="1296206" y="3467100"/>
            <a:ext cx="7313588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F114F-E8F8-4DC7-A769-8A47C6C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769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84426"/>
                </a:solidFill>
              </a:defRPr>
            </a:defPPr>
            <a:lvl1pPr algn="l">
              <a:defRPr sz="1050" b="1">
                <a:solidFill>
                  <a:srgbClr val="B84426"/>
                </a:solidFill>
              </a:defRPr>
            </a:lvl1pPr>
            <a:lvl2pPr algn="l">
              <a:defRPr sz="1050" b="1">
                <a:solidFill>
                  <a:srgbClr val="B84426"/>
                </a:solidFill>
              </a:defRPr>
            </a:lvl2pPr>
            <a:lvl3pPr algn="l">
              <a:defRPr sz="1050" b="1">
                <a:solidFill>
                  <a:srgbClr val="B84426"/>
                </a:solidFill>
              </a:defRPr>
            </a:lvl3pPr>
            <a:lvl4pPr algn="l">
              <a:defRPr sz="1050" b="1">
                <a:solidFill>
                  <a:srgbClr val="B84426"/>
                </a:solidFill>
              </a:defRPr>
            </a:lvl4pPr>
            <a:lvl5pPr algn="l">
              <a:defRPr sz="1050" b="1">
                <a:solidFill>
                  <a:srgbClr val="B84426"/>
                </a:solidFill>
              </a:defRPr>
            </a:lvl5pPr>
            <a:lvl6pPr algn="l">
              <a:defRPr sz="1050" b="1">
                <a:solidFill>
                  <a:srgbClr val="B84426"/>
                </a:solidFill>
              </a:defRPr>
            </a:lvl6pPr>
            <a:lvl7pPr algn="l">
              <a:defRPr sz="1050" b="1">
                <a:solidFill>
                  <a:srgbClr val="B84426"/>
                </a:solidFill>
              </a:defRPr>
            </a:lvl7pPr>
            <a:lvl8pPr algn="l">
              <a:defRPr sz="1050" b="1">
                <a:solidFill>
                  <a:srgbClr val="B84426"/>
                </a:solidFill>
              </a:defRPr>
            </a:lvl8pPr>
            <a:lvl9pPr algn="l">
              <a:defRPr sz="105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4426"/>
                </a:solidFill>
              </a:defRPr>
            </a:pPr>
            <a:r>
              <a:rPr sz="1050" b="1">
                <a:solidFill>
                  <a:srgbClr val="B84426"/>
                </a:solidFill>
              </a:rPr>
              <a:t>현재 선정 분기: Ai2020 음극 + 측정 양극 OCP. 이후 kₙ·kₚ 계산에는 이 분기의 cₛ,max 사용.</a:t>
            </a:r>
          </a:p>
        </p:txBody>
      </p:sp>
    </p:spTree>
    <p:extLst>
      <p:ext uri="{BB962C8B-B14F-4D97-AF65-F5344CB8AC3E}">
        <p14:creationId xmlns:p14="http://schemas.microsoft.com/office/powerpoint/2010/main" val="2841993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1A75-6751-4896-BFA5-45CC5133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Ai2020 모델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ACE02-202C-431D-BF26-DC040F7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8CF03-078B-4E9E-A3F3-2EA3AA7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[2–3단계] 실험 초기값 → Bruggeman 고정 → 충전 kₙ 피팅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104C-1CC8-4963-9EAC-E801DC8D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56082"/>
                </a:solidFill>
              </a:defRPr>
            </a:defPPr>
            <a:lvl1pPr algn="l">
              <a:defRPr sz="1125" b="1">
                <a:solidFill>
                  <a:srgbClr val="156082"/>
                </a:solidFill>
              </a:defRPr>
            </a:lvl1pPr>
            <a:lvl2pPr algn="l">
              <a:defRPr sz="1125" b="1">
                <a:solidFill>
                  <a:srgbClr val="156082"/>
                </a:solidFill>
              </a:defRPr>
            </a:lvl2pPr>
            <a:lvl3pPr algn="l">
              <a:defRPr sz="1125" b="1">
                <a:solidFill>
                  <a:srgbClr val="156082"/>
                </a:solidFill>
              </a:defRPr>
            </a:lvl3pPr>
            <a:lvl4pPr algn="l">
              <a:defRPr sz="1125" b="1">
                <a:solidFill>
                  <a:srgbClr val="156082"/>
                </a:solidFill>
              </a:defRPr>
            </a:lvl4pPr>
            <a:lvl5pPr algn="l">
              <a:defRPr sz="1125" b="1">
                <a:solidFill>
                  <a:srgbClr val="156082"/>
                </a:solidFill>
              </a:defRPr>
            </a:lvl5pPr>
            <a:lvl6pPr algn="l">
              <a:defRPr sz="1125" b="1">
                <a:solidFill>
                  <a:srgbClr val="156082"/>
                </a:solidFill>
              </a:defRPr>
            </a:lvl6pPr>
            <a:lvl7pPr algn="l">
              <a:defRPr sz="1125" b="1">
                <a:solidFill>
                  <a:srgbClr val="156082"/>
                </a:solidFill>
              </a:defRPr>
            </a:lvl7pPr>
            <a:lvl8pPr algn="l">
              <a:defRPr sz="1125" b="1">
                <a:solidFill>
                  <a:srgbClr val="156082"/>
                </a:solidFill>
              </a:defRPr>
            </a:lvl8pPr>
            <a:lvl9pPr algn="l">
              <a:defRPr sz="112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A: EIS kₙ, bₙ=2.914   →   B: bₙ=2.5 고정   →   C: 충전 3율만 kₙ 피팅·방전 3율 독립 검증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2714-121D-4836-A3C5-3A78071E82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182ca637d40d0"/>
          <a:stretch xmlns:a="http://schemas.openxmlformats.org/drawingml/2006/main"/>
        </p:blipFill>
        <p:spPr>
          <a:xfrm xmlns:a="http://schemas.openxmlformats.org/drawingml/2006/main">
            <a:off x="769144" y="1543050"/>
            <a:ext cx="8358188" cy="44577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765DE-270F-4D22-8438-616B483BCA4E}"/>
              </a:ext>
            </a:extLst>
          </p:cNvPr>
          <p:cNvGraphicFramePr/>
          <p:nvPr/>
        </p:nvGraphicFramePr>
        <p:xfrm>
          <a:off xmlns:a="http://schemas.openxmlformats.org/drawingml/2006/main" x="1476375" y="6019800"/>
          <a:ext xmlns:a="http://schemas.openxmlformats.org/drawingml/2006/main" cx="6953250" cy="5619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8313"/>
                <a:gridCol w="1738313"/>
                <a:gridCol w="1738313"/>
                <a:gridCol w="1738313"/>
              </a:tblGrid>
              <a:tr h="2809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6곡선 전체 RMSE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 · 실험 초기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 · bₙ=2.5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 · 최종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mV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66.69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39.70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37.14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114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47344-3731-49EF-A9EB-F3E13B8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Ai2020 모델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1917-C246-486B-AEC3-F29C6CF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09FAA-8CD0-4FFB-B9CA-6AB8766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민감도·식별도 분석과 피팅 변수 선정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DADD9-0737-400F-AF90-97E0CEA05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f83c2e6dc4562"/>
          <a:stretch xmlns:a="http://schemas.openxmlformats.org/drawingml/2006/main"/>
        </p:blipFill>
        <p:spPr>
          <a:xfrm xmlns:a="http://schemas.openxmlformats.org/drawingml/2006/main">
            <a:off x="387537" y="1409700"/>
            <a:ext cx="5797176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9E588-E844-42E2-B0BF-0242594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56082"/>
                </a:solidFill>
              </a:defRPr>
            </a:defPPr>
            <a:lvl1pPr algn="l">
              <a:defRPr sz="1500" b="1">
                <a:solidFill>
                  <a:srgbClr val="156082"/>
                </a:solidFill>
              </a:defRPr>
            </a:lvl1pPr>
            <a:lvl2pPr algn="l">
              <a:defRPr sz="1500" b="1">
                <a:solidFill>
                  <a:srgbClr val="156082"/>
                </a:solidFill>
              </a:defRPr>
            </a:lvl2pPr>
            <a:lvl3pPr algn="l">
              <a:defRPr sz="1500" b="1">
                <a:solidFill>
                  <a:srgbClr val="156082"/>
                </a:solidFill>
              </a:defRPr>
            </a:lvl3pPr>
            <a:lvl4pPr algn="l">
              <a:defRPr sz="1500" b="1">
                <a:solidFill>
                  <a:srgbClr val="156082"/>
                </a:solidFill>
              </a:defRPr>
            </a:lvl4pPr>
            <a:lvl5pPr algn="l">
              <a:defRPr sz="1500" b="1">
                <a:solidFill>
                  <a:srgbClr val="156082"/>
                </a:solidFill>
              </a:defRPr>
            </a:lvl5pPr>
            <a:lvl6pPr algn="l">
              <a:defRPr sz="1500" b="1">
                <a:solidFill>
                  <a:srgbClr val="156082"/>
                </a:solidFill>
              </a:defRPr>
            </a:lvl6pPr>
            <a:lvl7pPr algn="l">
              <a:defRPr sz="1500" b="1">
                <a:solidFill>
                  <a:srgbClr val="156082"/>
                </a:solidFill>
              </a:defRPr>
            </a:lvl7pPr>
            <a:lvl8pPr algn="l">
              <a:defRPr sz="1500" b="1">
                <a:solidFill>
                  <a:srgbClr val="156082"/>
                </a:solidFill>
              </a:defRPr>
            </a:lvl8pPr>
            <a:lvl9pPr algn="l">
              <a:defRPr sz="150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후보 7개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F463-2E32-45CB-BED0-050E2E1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</a:defRPr>
            </a:defPPr>
            <a:lvl1pPr algn="l">
              <a:defRPr sz="1275" b="0">
                <a:solidFill>
                  <a:srgbClr val="262626"/>
                </a:solidFill>
              </a:defRPr>
            </a:lvl1pPr>
            <a:lvl2pPr algn="l">
              <a:defRPr sz="1275" b="0">
                <a:solidFill>
                  <a:srgbClr val="262626"/>
                </a:solidFill>
              </a:defRPr>
            </a:lvl2pPr>
            <a:lvl3pPr algn="l">
              <a:defRPr sz="1275" b="0">
                <a:solidFill>
                  <a:srgbClr val="262626"/>
                </a:solidFill>
              </a:defRPr>
            </a:lvl3pPr>
            <a:lvl4pPr algn="l">
              <a:defRPr sz="1275" b="0">
                <a:solidFill>
                  <a:srgbClr val="262626"/>
                </a:solidFill>
              </a:defRPr>
            </a:lvl4pPr>
            <a:lvl5pPr algn="l">
              <a:defRPr sz="1275" b="0">
                <a:solidFill>
                  <a:srgbClr val="262626"/>
                </a:solidFill>
              </a:defRPr>
            </a:lvl5pPr>
            <a:lvl6pPr algn="l">
              <a:defRPr sz="1275" b="0">
                <a:solidFill>
                  <a:srgbClr val="262626"/>
                </a:solidFill>
              </a:defRPr>
            </a:lvl6pPr>
            <a:lvl7pPr algn="l">
              <a:defRPr sz="1275" b="0">
                <a:solidFill>
                  <a:srgbClr val="262626"/>
                </a:solidFill>
              </a:defRPr>
            </a:lvl7pPr>
            <a:lvl8pPr algn="l">
              <a:defRPr sz="1275" b="0">
                <a:solidFill>
                  <a:srgbClr val="262626"/>
                </a:solidFill>
              </a:defRPr>
            </a:lvl8pPr>
            <a:lvl9pPr algn="l">
              <a:defRPr sz="1275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62626"/>
                </a:solidFill>
              </a:defRPr>
            </a:pPr>
            <a:r>
              <a:rPr sz="1275" b="0">
                <a:solidFill>
                  <a:srgbClr val="262626"/>
                </a:solidFill>
              </a:rPr>
              <a:t>Dₛ,n · Dₛ,p · kₙ · kₚ</a:t>
            </a:r>
          </a:p>
          <a:p xmlns:a="http://schemas.openxmlformats.org/drawingml/2006/main">
            <a:pPr algn="l">
              <a:defRPr sz="1275" b="0">
                <a:solidFill>
                  <a:srgbClr val="262626"/>
                </a:solidFill>
              </a:defRPr>
            </a:pPr>
            <a:r>
              <a:rPr sz="1275" b="0">
                <a:solidFill>
                  <a:srgbClr val="262626"/>
                </a:solidFill>
              </a:rPr>
              <a:t>bₙ · bₛ · bₚ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DEF2-4739-41ED-81C9-A73E9FB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262626"/>
                </a:solidFill>
              </a:defRPr>
            </a:defPPr>
            <a:lvl1pPr algn="l">
              <a:defRPr sz="1200" b="0">
                <a:solidFill>
                  <a:srgbClr val="262626"/>
                </a:solidFill>
              </a:defRPr>
            </a:lvl1pPr>
            <a:lvl2pPr algn="l">
              <a:defRPr sz="1200" b="0">
                <a:solidFill>
                  <a:srgbClr val="262626"/>
                </a:solidFill>
              </a:defRPr>
            </a:lvl2pPr>
            <a:lvl3pPr algn="l">
              <a:defRPr sz="1200" b="0">
                <a:solidFill>
                  <a:srgbClr val="262626"/>
                </a:solidFill>
              </a:defRPr>
            </a:lvl3pPr>
            <a:lvl4pPr algn="l">
              <a:defRPr sz="1200" b="0">
                <a:solidFill>
                  <a:srgbClr val="262626"/>
                </a:solidFill>
              </a:defRPr>
            </a:lvl4pPr>
            <a:lvl5pPr algn="l">
              <a:defRPr sz="1200" b="0">
                <a:solidFill>
                  <a:srgbClr val="262626"/>
                </a:solidFill>
              </a:defRPr>
            </a:lvl5pPr>
            <a:lvl6pPr algn="l">
              <a:defRPr sz="1200" b="0">
                <a:solidFill>
                  <a:srgbClr val="262626"/>
                </a:solidFill>
              </a:defRPr>
            </a:lvl6pPr>
            <a:lvl7pPr algn="l">
              <a:defRPr sz="1200" b="0">
                <a:solidFill>
                  <a:srgbClr val="262626"/>
                </a:solidFill>
              </a:defRPr>
            </a:lvl7pPr>
            <a:lvl8pPr algn="l">
              <a:defRPr sz="1200" b="0">
                <a:solidFill>
                  <a:srgbClr val="262626"/>
                </a:solidFill>
              </a:defRPr>
            </a:lvl8pPr>
            <a:lvl9pPr algn="l">
              <a:defRPr sz="1200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62626"/>
                </a:solidFill>
              </a:defRPr>
            </a:pPr>
            <a:r>
              <a:rPr sz="1200" b="0">
                <a:solidFill>
                  <a:srgbClr val="262626"/>
                </a:solidFill>
              </a:rPr>
              <a:t>5% 교란: bₙ ≈ 9 mV; kₙ·kₚ ≈ 2 mV</a:t>
            </a:r>
          </a:p>
          <a:p xmlns:a="http://schemas.openxmlformats.org/drawingml/2006/main">
            <a:pPr algn="l">
              <a:defRPr sz="1200" b="0">
                <a:solidFill>
                  <a:srgbClr val="262626"/>
                </a:solidFill>
              </a:defRPr>
            </a:pPr>
            <a:r>
              <a:rPr sz="1200" b="0">
                <a:solidFill>
                  <a:srgbClr val="262626"/>
                </a:solidFill>
              </a:rPr>
              <a:t>Dₛ,n·Dₛ,p &lt; 0.1 mV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F1110-96ED-4C82-AA1C-97D77C00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262626"/>
                </a:solidFill>
              </a:defRPr>
            </a:defPPr>
            <a:lvl1pPr algn="l">
              <a:defRPr sz="1200" b="1">
                <a:solidFill>
                  <a:srgbClr val="262626"/>
                </a:solidFill>
              </a:defRPr>
            </a:lvl1pPr>
            <a:lvl2pPr algn="l">
              <a:defRPr sz="1200" b="1">
                <a:solidFill>
                  <a:srgbClr val="262626"/>
                </a:solidFill>
              </a:defRPr>
            </a:lvl2pPr>
            <a:lvl3pPr algn="l">
              <a:defRPr sz="1200" b="1">
                <a:solidFill>
                  <a:srgbClr val="262626"/>
                </a:solidFill>
              </a:defRPr>
            </a:lvl3pPr>
            <a:lvl4pPr algn="l">
              <a:defRPr sz="1200" b="1">
                <a:solidFill>
                  <a:srgbClr val="262626"/>
                </a:solidFill>
              </a:defRPr>
            </a:lvl4pPr>
            <a:lvl5pPr algn="l">
              <a:defRPr sz="1200" b="1">
                <a:solidFill>
                  <a:srgbClr val="262626"/>
                </a:solidFill>
              </a:defRPr>
            </a:lvl5pPr>
            <a:lvl6pPr algn="l">
              <a:defRPr sz="1200" b="1">
                <a:solidFill>
                  <a:srgbClr val="262626"/>
                </a:solidFill>
              </a:defRPr>
            </a:lvl6pPr>
            <a:lvl7pPr algn="l">
              <a:defRPr sz="1200" b="1">
                <a:solidFill>
                  <a:srgbClr val="262626"/>
                </a:solidFill>
              </a:defRPr>
            </a:lvl7pPr>
            <a:lvl8pPr algn="l">
              <a:defRPr sz="1200" b="1">
                <a:solidFill>
                  <a:srgbClr val="262626"/>
                </a:solidFill>
              </a:defRPr>
            </a:lvl8pPr>
            <a:lvl9pPr algn="l">
              <a:defRPr sz="120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2626"/>
                </a:solidFill>
              </a:defRPr>
            </a:pPr>
            <a:r>
              <a:rPr sz="1200" b="1">
                <a:solidFill>
                  <a:srgbClr val="262626"/>
                </a:solidFill>
              </a:rPr>
              <a:t>kₙ–kₚ 상관 ≈ 1.00</a:t>
            </a:r>
          </a:p>
          <a:p xmlns:a="http://schemas.openxmlformats.org/drawingml/2006/main">
            <a:pPr algn="l">
              <a:defRPr sz="1200" b="1">
                <a:solidFill>
                  <a:srgbClr val="262626"/>
                </a:solidFill>
              </a:defRPr>
            </a:pPr>
            <a:r>
              <a:rPr sz="1200" b="1">
                <a:solidFill>
                  <a:srgbClr val="262626"/>
                </a:solidFill>
              </a:rPr>
              <a:t>bₛ–bₚ 상관 ≈ 0.99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70042-CDDA-4E63-8790-EF10FED3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48175"/>
            <a:ext cx="2905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B84426"/>
                </a:solidFill>
              </a:defRPr>
            </a:defPPr>
            <a:lvl1pPr algn="l">
              <a:defRPr sz="1200" b="1">
                <a:solidFill>
                  <a:srgbClr val="B84426"/>
                </a:solidFill>
              </a:defRPr>
            </a:lvl1pPr>
            <a:lvl2pPr algn="l">
              <a:defRPr sz="1200" b="1">
                <a:solidFill>
                  <a:srgbClr val="B84426"/>
                </a:solidFill>
              </a:defRPr>
            </a:lvl2pPr>
            <a:lvl3pPr algn="l">
              <a:defRPr sz="1200" b="1">
                <a:solidFill>
                  <a:srgbClr val="B84426"/>
                </a:solidFill>
              </a:defRPr>
            </a:lvl3pPr>
            <a:lvl4pPr algn="l">
              <a:defRPr sz="1200" b="1">
                <a:solidFill>
                  <a:srgbClr val="B84426"/>
                </a:solidFill>
              </a:defRPr>
            </a:lvl4pPr>
            <a:lvl5pPr algn="l">
              <a:defRPr sz="1200" b="1">
                <a:solidFill>
                  <a:srgbClr val="B84426"/>
                </a:solidFill>
              </a:defRPr>
            </a:lvl5pPr>
            <a:lvl6pPr algn="l">
              <a:defRPr sz="1200" b="1">
                <a:solidFill>
                  <a:srgbClr val="B84426"/>
                </a:solidFill>
              </a:defRPr>
            </a:lvl6pPr>
            <a:lvl7pPr algn="l">
              <a:defRPr sz="1200" b="1">
                <a:solidFill>
                  <a:srgbClr val="B84426"/>
                </a:solidFill>
              </a:defRPr>
            </a:lvl7pPr>
            <a:lvl8pPr algn="l">
              <a:defRPr sz="1200" b="1">
                <a:solidFill>
                  <a:srgbClr val="B84426"/>
                </a:solidFill>
              </a:defRPr>
            </a:lvl8pPr>
            <a:lvl9pPr algn="l">
              <a:defRPr sz="120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4426"/>
                </a:solidFill>
              </a:defRPr>
            </a:pPr>
            <a:r>
              <a:rPr sz="1200" b="1">
                <a:solidFill>
                  <a:srgbClr val="B84426"/>
                </a:solidFill>
              </a:rPr>
              <a:t>자유 kₙ+bₙ 피팅은 kₙ 상한에 도달하고 2C 방전 RMSE 122.06 mV. 따라서 bₙ=2.5 고정 후 kₙ만 피팅.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9D6B2-4566-4A45-9499-4B81709A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81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56082"/>
                </a:solidFill>
              </a:defRPr>
            </a:defPPr>
            <a:lvl1pPr algn="l">
              <a:defRPr sz="1125" b="1">
                <a:solidFill>
                  <a:srgbClr val="156082"/>
                </a:solidFill>
              </a:defRPr>
            </a:lvl1pPr>
            <a:lvl2pPr algn="l">
              <a:defRPr sz="1125" b="1">
                <a:solidFill>
                  <a:srgbClr val="156082"/>
                </a:solidFill>
              </a:defRPr>
            </a:lvl2pPr>
            <a:lvl3pPr algn="l">
              <a:defRPr sz="1125" b="1">
                <a:solidFill>
                  <a:srgbClr val="156082"/>
                </a:solidFill>
              </a:defRPr>
            </a:lvl3pPr>
            <a:lvl4pPr algn="l">
              <a:defRPr sz="1125" b="1">
                <a:solidFill>
                  <a:srgbClr val="156082"/>
                </a:solidFill>
              </a:defRPr>
            </a:lvl4pPr>
            <a:lvl5pPr algn="l">
              <a:defRPr sz="1125" b="1">
                <a:solidFill>
                  <a:srgbClr val="156082"/>
                </a:solidFill>
              </a:defRPr>
            </a:lvl5pPr>
            <a:lvl6pPr algn="l">
              <a:defRPr sz="1125" b="1">
                <a:solidFill>
                  <a:srgbClr val="156082"/>
                </a:solidFill>
              </a:defRPr>
            </a:lvl6pPr>
            <a:lvl7pPr algn="l">
              <a:defRPr sz="1125" b="1">
                <a:solidFill>
                  <a:srgbClr val="156082"/>
                </a:solidFill>
              </a:defRPr>
            </a:lvl7pPr>
            <a:lvl8pPr algn="l">
              <a:defRPr sz="1125" b="1">
                <a:solidFill>
                  <a:srgbClr val="156082"/>
                </a:solidFill>
              </a:defRPr>
            </a:lvl8pPr>
            <a:lvl9pPr algn="l">
              <a:defRPr sz="112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충전 3곡선 학습 / 방전 3곡선 검증. PSO 대신 1변수 bounded scalar 탐색.</a:t>
            </a:r>
          </a:p>
        </p:txBody>
      </p:sp>
    </p:spTree>
    <p:extLst>
      <p:ext uri="{BB962C8B-B14F-4D97-AF65-F5344CB8AC3E}">
        <p14:creationId xmlns:p14="http://schemas.microsoft.com/office/powerpoint/2010/main" val="2154338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F85D7-7DD5-4AB9-858E-6DC4DD89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Ai2020 모델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79A3D-2D71-4AFC-B96E-866CBD9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F89FA-4571-4A80-8894-1ACAD89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최종 선정 모델: 충전 피팅 3곡선 · 방전 독립 검증 3곡선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B9ED-5017-4FAF-B263-9F2B132C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228725"/>
            <a:ext cx="895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56082"/>
                </a:solidFill>
              </a:defRPr>
            </a:defPPr>
            <a:lvl1pPr algn="l">
              <a:defRPr sz="1275" b="1">
                <a:solidFill>
                  <a:srgbClr val="156082"/>
                </a:solidFill>
              </a:defRPr>
            </a:lvl1pPr>
            <a:lvl2pPr algn="l">
              <a:defRPr sz="1275" b="1">
                <a:solidFill>
                  <a:srgbClr val="156082"/>
                </a:solidFill>
              </a:defRPr>
            </a:lvl2pPr>
            <a:lvl3pPr algn="l">
              <a:defRPr sz="1275" b="1">
                <a:solidFill>
                  <a:srgbClr val="156082"/>
                </a:solidFill>
              </a:defRPr>
            </a:lvl3pPr>
            <a:lvl4pPr algn="l">
              <a:defRPr sz="1275" b="1">
                <a:solidFill>
                  <a:srgbClr val="156082"/>
                </a:solidFill>
              </a:defRPr>
            </a:lvl4pPr>
            <a:lvl5pPr algn="l">
              <a:defRPr sz="1275" b="1">
                <a:solidFill>
                  <a:srgbClr val="156082"/>
                </a:solidFill>
              </a:defRPr>
            </a:lvl5pPr>
            <a:lvl6pPr algn="l">
              <a:defRPr sz="1275" b="1">
                <a:solidFill>
                  <a:srgbClr val="156082"/>
                </a:solidFill>
              </a:defRPr>
            </a:lvl6pPr>
            <a:lvl7pPr algn="l">
              <a:defRPr sz="1275" b="1">
                <a:solidFill>
                  <a:srgbClr val="156082"/>
                </a:solidFill>
              </a:defRPr>
            </a:lvl7pPr>
            <a:lvl8pPr algn="l">
              <a:defRPr sz="1275" b="1">
                <a:solidFill>
                  <a:srgbClr val="156082"/>
                </a:solidFill>
              </a:defRPr>
            </a:lvl8pPr>
            <a:lvl9pPr algn="l">
              <a:defRPr sz="127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Ai2020 흑연 OCP + 측정 양극 OCP + ORegan2022 전해질 벌크 물성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51BBB-F0D7-41C3-A458-418CEF7BC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8d3277eba487b"/>
          <a:stretch xmlns:a="http://schemas.openxmlformats.org/drawingml/2006/main"/>
        </p:blipFill>
        <p:spPr>
          <a:xfrm xmlns:a="http://schemas.openxmlformats.org/drawingml/2006/main">
            <a:off x="707231" y="1524000"/>
            <a:ext cx="8501063" cy="4533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24B54-5B42-4CB5-996E-7DB6132F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00775"/>
            <a:ext cx="885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56082"/>
                </a:solidFill>
              </a:defRPr>
            </a:defPPr>
            <a:lvl1pPr algn="l">
              <a:defRPr sz="1200" b="1">
                <a:solidFill>
                  <a:srgbClr val="156082"/>
                </a:solidFill>
              </a:defRPr>
            </a:lvl1pPr>
            <a:lvl2pPr algn="l">
              <a:defRPr sz="1200" b="1">
                <a:solidFill>
                  <a:srgbClr val="156082"/>
                </a:solidFill>
              </a:defRPr>
            </a:lvl2pPr>
            <a:lvl3pPr algn="l">
              <a:defRPr sz="1200" b="1">
                <a:solidFill>
                  <a:srgbClr val="156082"/>
                </a:solidFill>
              </a:defRPr>
            </a:lvl3pPr>
            <a:lvl4pPr algn="l">
              <a:defRPr sz="1200" b="1">
                <a:solidFill>
                  <a:srgbClr val="156082"/>
                </a:solidFill>
              </a:defRPr>
            </a:lvl4pPr>
            <a:lvl5pPr algn="l">
              <a:defRPr sz="1200" b="1">
                <a:solidFill>
                  <a:srgbClr val="156082"/>
                </a:solidFill>
              </a:defRPr>
            </a:lvl5pPr>
            <a:lvl6pPr algn="l">
              <a:defRPr sz="1200" b="1">
                <a:solidFill>
                  <a:srgbClr val="156082"/>
                </a:solidFill>
              </a:defRPr>
            </a:lvl6pPr>
            <a:lvl7pPr algn="l">
              <a:defRPr sz="1200" b="1">
                <a:solidFill>
                  <a:srgbClr val="156082"/>
                </a:solidFill>
              </a:defRPr>
            </a:lvl7pPr>
            <a:lvl8pPr algn="l">
              <a:defRPr sz="1200" b="1">
                <a:solidFill>
                  <a:srgbClr val="156082"/>
                </a:solidFill>
              </a:defRPr>
            </a:lvl8pPr>
            <a:lvl9pPr algn="l">
              <a:defRPr sz="120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전체 RMSE: 충전 41.85 mV · 방전 31.74 mV     |     kₙ=9.7028×10⁻⁷, bₙ=2.5, kₚ=4.7682×10⁻⁷</a:t>
            </a:r>
          </a:p>
        </p:txBody>
      </p:sp>
    </p:spTree>
    <p:extLst>
      <p:ext uri="{BB962C8B-B14F-4D97-AF65-F5344CB8AC3E}">
        <p14:creationId xmlns:p14="http://schemas.microsoft.com/office/powerpoint/2010/main" val="4287257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65B9B-76A0-4054-B643-57AA964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Ai2020 모델 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93497-BBB7-4B67-BC4B-6F7B1BC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12293-EF30-45A5-8450-608DD64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최종 모델 선정: 1C까지의 SoC별 음극 전위 확인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AE283-F97A-47BA-A7DF-C723F3A69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93cb964f1417c"/>
          <a:stretch xmlns:a="http://schemas.openxmlformats.org/drawingml/2006/main"/>
        </p:blipFill>
        <p:spPr>
          <a:xfrm xmlns:a="http://schemas.openxmlformats.org/drawingml/2006/main">
            <a:off x="285750" y="1731726"/>
            <a:ext cx="6572250" cy="37755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0B8EA-1848-432E-B2BA-E43ED7A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56082"/>
                </a:solidFill>
              </a:defRPr>
            </a:defPPr>
            <a:lvl1pPr algn="l">
              <a:defRPr sz="1575" b="1">
                <a:solidFill>
                  <a:srgbClr val="156082"/>
                </a:solidFill>
              </a:defRPr>
            </a:lvl1pPr>
            <a:lvl2pPr algn="l">
              <a:defRPr sz="1575" b="1">
                <a:solidFill>
                  <a:srgbClr val="156082"/>
                </a:solidFill>
              </a:defRPr>
            </a:lvl2pPr>
            <a:lvl3pPr algn="l">
              <a:defRPr sz="1575" b="1">
                <a:solidFill>
                  <a:srgbClr val="156082"/>
                </a:solidFill>
              </a:defRPr>
            </a:lvl3pPr>
            <a:lvl4pPr algn="l">
              <a:defRPr sz="1575" b="1">
                <a:solidFill>
                  <a:srgbClr val="156082"/>
                </a:solidFill>
              </a:defRPr>
            </a:lvl4pPr>
            <a:lvl5pPr algn="l">
              <a:defRPr sz="1575" b="1">
                <a:solidFill>
                  <a:srgbClr val="156082"/>
                </a:solidFill>
              </a:defRPr>
            </a:lvl5pPr>
            <a:lvl6pPr algn="l">
              <a:defRPr sz="1575" b="1">
                <a:solidFill>
                  <a:srgbClr val="156082"/>
                </a:solidFill>
              </a:defRPr>
            </a:lvl6pPr>
            <a:lvl7pPr algn="l">
              <a:defRPr sz="1575" b="1">
                <a:solidFill>
                  <a:srgbClr val="156082"/>
                </a:solidFill>
              </a:defRPr>
            </a:lvl7pPr>
            <a:lvl8pPr algn="l">
              <a:defRPr sz="1575" b="1">
                <a:solidFill>
                  <a:srgbClr val="156082"/>
                </a:solidFill>
              </a:defRPr>
            </a:lvl8pPr>
            <a:lvl9pPr algn="l">
              <a:defRPr sz="157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전위 최저값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C885D-8695-402D-9EA0-C55E560C4047}"/>
              </a:ext>
            </a:extLst>
          </p:cNvPr>
          <p:cNvGraphicFramePr/>
          <p:nvPr/>
        </p:nvGraphicFramePr>
        <p:xfrm>
          <a:off xmlns:a="http://schemas.openxmlformats.org/drawingml/2006/main" x="6934200" y="1971675"/>
          <a:ext xmlns:a="http://schemas.openxmlformats.org/drawingml/2006/main" cx="2476500" cy="1524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123825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충전율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최저 (mV)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0.5C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+36.72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1C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−3.33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</a:rPr>
                        <a:t>2C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</a:rPr>
                        <a:t>−49.55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3E426-B685-4BD6-A5AE-F9E87A8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67125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262626"/>
                </a:solidFill>
              </a:defRPr>
            </a:defPPr>
            <a:lvl1pPr algn="l">
              <a:defRPr sz="1200" b="1">
                <a:solidFill>
                  <a:srgbClr val="262626"/>
                </a:solidFill>
              </a:defRPr>
            </a:lvl1pPr>
            <a:lvl2pPr algn="l">
              <a:defRPr sz="1200" b="1">
                <a:solidFill>
                  <a:srgbClr val="262626"/>
                </a:solidFill>
              </a:defRPr>
            </a:lvl2pPr>
            <a:lvl3pPr algn="l">
              <a:defRPr sz="1200" b="1">
                <a:solidFill>
                  <a:srgbClr val="262626"/>
                </a:solidFill>
              </a:defRPr>
            </a:lvl3pPr>
            <a:lvl4pPr algn="l">
              <a:defRPr sz="1200" b="1">
                <a:solidFill>
                  <a:srgbClr val="262626"/>
                </a:solidFill>
              </a:defRPr>
            </a:lvl4pPr>
            <a:lvl5pPr algn="l">
              <a:defRPr sz="1200" b="1">
                <a:solidFill>
                  <a:srgbClr val="262626"/>
                </a:solidFill>
              </a:defRPr>
            </a:lvl5pPr>
            <a:lvl6pPr algn="l">
              <a:defRPr sz="1200" b="1">
                <a:solidFill>
                  <a:srgbClr val="262626"/>
                </a:solidFill>
              </a:defRPr>
            </a:lvl6pPr>
            <a:lvl7pPr algn="l">
              <a:defRPr sz="1200" b="1">
                <a:solidFill>
                  <a:srgbClr val="262626"/>
                </a:solidFill>
              </a:defRPr>
            </a:lvl7pPr>
            <a:lvl8pPr algn="l">
              <a:defRPr sz="1200" b="1">
                <a:solidFill>
                  <a:srgbClr val="262626"/>
                </a:solidFill>
              </a:defRPr>
            </a:lvl8pPr>
            <a:lvl9pPr algn="l">
              <a:defRPr sz="120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62626"/>
                </a:solidFill>
              </a:defRPr>
            </a:pPr>
            <a:r>
              <a:rPr sz="1200" b="1">
                <a:solidFill>
                  <a:srgbClr val="262626"/>
                </a:solidFill>
              </a:rPr>
              <a:t>1C: SoC 70% +19.54 mV; 75% +8.94 mV. 0 mV 미만은 약 79–80% SoC의 끝부분에 한정.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4E0DB-56F8-459A-B467-DB4DAA4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B84426"/>
                </a:solidFill>
              </a:defRPr>
            </a:defPPr>
            <a:lvl1pPr algn="l">
              <a:defRPr sz="1200" b="1">
                <a:solidFill>
                  <a:srgbClr val="B84426"/>
                </a:solidFill>
              </a:defRPr>
            </a:lvl1pPr>
            <a:lvl2pPr algn="l">
              <a:defRPr sz="1200" b="1">
                <a:solidFill>
                  <a:srgbClr val="B84426"/>
                </a:solidFill>
              </a:defRPr>
            </a:lvl2pPr>
            <a:lvl3pPr algn="l">
              <a:defRPr sz="1200" b="1">
                <a:solidFill>
                  <a:srgbClr val="B84426"/>
                </a:solidFill>
              </a:defRPr>
            </a:lvl3pPr>
            <a:lvl4pPr algn="l">
              <a:defRPr sz="1200" b="1">
                <a:solidFill>
                  <a:srgbClr val="B84426"/>
                </a:solidFill>
              </a:defRPr>
            </a:lvl4pPr>
            <a:lvl5pPr algn="l">
              <a:defRPr sz="1200" b="1">
                <a:solidFill>
                  <a:srgbClr val="B84426"/>
                </a:solidFill>
              </a:defRPr>
            </a:lvl5pPr>
            <a:lvl6pPr algn="l">
              <a:defRPr sz="1200" b="1">
                <a:solidFill>
                  <a:srgbClr val="B84426"/>
                </a:solidFill>
              </a:defRPr>
            </a:lvl6pPr>
            <a:lvl7pPr algn="l">
              <a:defRPr sz="1200" b="1">
                <a:solidFill>
                  <a:srgbClr val="B84426"/>
                </a:solidFill>
              </a:defRPr>
            </a:lvl7pPr>
            <a:lvl8pPr algn="l">
              <a:defRPr sz="1200" b="1">
                <a:solidFill>
                  <a:srgbClr val="B84426"/>
                </a:solidFill>
              </a:defRPr>
            </a:lvl8pPr>
            <a:lvl9pPr algn="l">
              <a:defRPr sz="120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4426"/>
                </a:solidFill>
              </a:defRPr>
            </a:pPr>
            <a:r>
              <a:rPr sz="1200" b="1">
                <a:solidFill>
                  <a:srgbClr val="B84426"/>
                </a:solidFill>
              </a:rPr>
              <a:t>2C는 약 34.5–61.1% SoC에서 음수. 현재 모델 선정의 허용 기준은 1C까지.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F22E0-B437-4E8B-93F7-89DAAF6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B84426"/>
                </a:solidFill>
              </a:defRPr>
            </a:defPPr>
            <a:lvl1pPr algn="l">
              <a:defRPr sz="1125" b="1">
                <a:solidFill>
                  <a:srgbClr val="B84426"/>
                </a:solidFill>
              </a:defRPr>
            </a:lvl1pPr>
            <a:lvl2pPr algn="l">
              <a:defRPr sz="1125" b="1">
                <a:solidFill>
                  <a:srgbClr val="B84426"/>
                </a:solidFill>
              </a:defRPr>
            </a:lvl2pPr>
            <a:lvl3pPr algn="l">
              <a:defRPr sz="1125" b="1">
                <a:solidFill>
                  <a:srgbClr val="B84426"/>
                </a:solidFill>
              </a:defRPr>
            </a:lvl3pPr>
            <a:lvl4pPr algn="l">
              <a:defRPr sz="1125" b="1">
                <a:solidFill>
                  <a:srgbClr val="B84426"/>
                </a:solidFill>
              </a:defRPr>
            </a:lvl4pPr>
            <a:lvl5pPr algn="l">
              <a:defRPr sz="1125" b="1">
                <a:solidFill>
                  <a:srgbClr val="B84426"/>
                </a:solidFill>
              </a:defRPr>
            </a:lvl5pPr>
            <a:lvl6pPr algn="l">
              <a:defRPr sz="1125" b="1">
                <a:solidFill>
                  <a:srgbClr val="B84426"/>
                </a:solidFill>
              </a:defRPr>
            </a:lvl6pPr>
            <a:lvl7pPr algn="l">
              <a:defRPr sz="1125" b="1">
                <a:solidFill>
                  <a:srgbClr val="B84426"/>
                </a:solidFill>
              </a:defRPr>
            </a:lvl7pPr>
            <a:lvl8pPr algn="l">
              <a:defRPr sz="1125" b="1">
                <a:solidFill>
                  <a:srgbClr val="B84426"/>
                </a:solidFill>
              </a:defRPr>
            </a:lvl8pPr>
            <a:lvl9pPr algn="l">
              <a:defRPr sz="1125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84426"/>
                </a:solidFill>
              </a:defRPr>
            </a:pPr>
            <a:r>
              <a:rPr sz="1125" b="1">
                <a:solidFill>
                  <a:srgbClr val="B84426"/>
                </a:solidFill>
              </a:rPr>
              <a:t>음극 전위는 DFN 분리막 계면 예측값이며 Li plating 실측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9844095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제목 2">
            <a:extLst xmlns:a="http://schemas.openxmlformats.org/drawingml/2006/main">
              <a:ext uri="{FF2B5EF4-FFF2-40B4-BE49-F238E27FC236}">
                <a16:creationId xmlns:a16="http://schemas.microsoft.com/office/drawing/2014/main" id="{10B769CD-6151-31C7-691E-50B35D343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233363"/>
            <a:ext cx="8915400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Appendix. </a:t>
            </a:r>
            <a:r>
              <a:t>파라미터 선정 근거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0A42513-004F-4320-D5FC-B7242C0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6" y="743134"/>
            <a:ext cx="619538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A1. Rp/Rn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선정 근거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4FF5094-4686-228F-85F3-8E43620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6" y="2143951"/>
            <a:ext cx="3706841" cy="3338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69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Cathode(LiCoO</a:t>
            </a:r>
            <a:r>
              <a:rPr sz="1569" b="1" baseline="-2500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1569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)</a:t>
            </a:r>
            <a:endParaRPr sz="1569" b="1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3CB5B79-35E5-1287-8AC1-BBC8BAD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286" y="2132856"/>
            <a:ext cx="3706841" cy="3338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69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Anode(Graphite)</a:t>
            </a:r>
            <a:endParaRPr sz="1569" b="1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67B52BDA-53E5-4C49-B655-B61D9F589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55ffa167e489d"/>
          <a:srcRect xmlns:a="http://schemas.openxmlformats.org/drawingml/2006/main" l="0" t="205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52" y="2554793"/>
            <a:ext cx="2866865" cy="2439393"/>
          </a:xfrm>
          <a:prstGeom xmlns:a="http://schemas.openxmlformats.org/drawingml/2006/main" prst="rect">
            <a:avLst/>
          </a:prstGeom>
        </p:spPr>
      </p:pic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9E64520E-56E0-4F90-9628-FA4AA1756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f8c2c6f0b4a65"/>
          <a:srcRect xmlns:a="http://schemas.openxmlformats.org/drawingml/2006/main" l="1693" t="13250" r="6525" b="2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1591" y="2554793"/>
            <a:ext cx="3024336" cy="2540754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C5C1734-46CB-6F01-97B2-031165B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7" y="1124744"/>
            <a:ext cx="8563801" cy="10195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spcAft>
                <a:spcPts val="600"/>
              </a:spcAft>
              <a:buFont typeface="Wingdings"/>
              <a:buChar char="ü"/>
            </a:pP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Ai2020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은 선행연구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Rieger2016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의 입자 반경을 적용하였으며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양극은 기존 미세구조 연구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인용값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음극은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추정값으로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 확인됨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spcAft>
                <a:spcPts val="600"/>
              </a:spcAft>
              <a:buFont typeface="Wingdings"/>
              <a:buChar char="ü"/>
            </a:pP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입자 반경의 산출 기준 및 분포 정보가 제한적이므로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, Chen2020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방법을 참고하여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SEM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기반 양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음극 입자 반경을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재측정함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.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spcAft>
                <a:spcPts val="600"/>
              </a:spcAft>
              <a:buFont typeface="Wingdings"/>
              <a:buChar char="à"/>
            </a:pP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실측 기반 반경을 반영했을 때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전압 응답 재현성과 용량 예측 정확도가 개선됨을 확인함</a:t>
            </a:r>
            <a:r>
              <a:rPr sz="1300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graphicFrame>
        <p:nvGraphicFramePr>
          <p:cNvPr id="15" name="표 14">
            <a:extLst xmlns:a="http://schemas.openxmlformats.org/drawingml/2006/main">
              <a:ext uri="{FF2B5EF4-FFF2-40B4-BE49-F238E27FC236}">
                <a16:creationId xmlns:a16="http://schemas.microsoft.com/office/drawing/2014/main" id="{E6ADF294-2F39-4108-AC37-9BC491F38108}"/>
              </a:ext>
            </a:extLst>
          </p:cNvPr>
          <p:cNvGraphicFramePr/>
          <p:nvPr/>
        </p:nvGraphicFramePr>
        <p:xfrm>
          <a:off xmlns:a="http://schemas.openxmlformats.org/drawingml/2006/main" x="376149" y="5189971"/>
          <a:ext xmlns:a="http://schemas.openxmlformats.org/drawingml/2006/main" cx="8483667" cy="102321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909"/>
                <a:gridCol w="3149404"/>
                <a:gridCol w="3438354"/>
              </a:tblGrid>
              <a:tr h="3033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600">
                        <a:latin typeface="Noto Sans KR Medium"/>
                        <a:ea typeface="Noto Sans KR Medium"/>
                        <a:cs typeface="Noto Sans KR Medium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Noto Sans KR Medium"/>
                          <a:ea typeface="Noto Sans KR Medium"/>
                          <a:cs typeface="Noto Sans KR Medium"/>
                        </a:rPr>
                        <a:t>양극 입자 반경</a:t>
                      </a:r>
                      <a:r>
                        <a:rPr sz="1400">
                          <a:latin typeface="Noto Sans KR Medium"/>
                          <a:ea typeface="Noto Sans KR Medium"/>
                          <a:cs typeface="Noto Sans KR Medium"/>
                        </a:rPr>
                        <a:t>(Rp)</a:t>
                      </a:r>
                      <a:endParaRPr sz="1400">
                        <a:latin typeface="Noto Sans KR Medium"/>
                        <a:ea typeface="Noto Sans KR Medium"/>
                        <a:cs typeface="Noto Sans KR Medium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Noto Sans KR Medium"/>
                          <a:ea typeface="Noto Sans KR Medium"/>
                          <a:cs typeface="Noto Sans KR Medium"/>
                        </a:rPr>
                        <a:t>음극 입자 반경</a:t>
                      </a:r>
                      <a:r>
                        <a:rPr sz="1400">
                          <a:latin typeface="Noto Sans KR Medium"/>
                          <a:ea typeface="Noto Sans KR Medium"/>
                          <a:cs typeface="Noto Sans KR Medium"/>
                        </a:rPr>
                        <a:t>(Rn)</a:t>
                      </a:r>
                      <a:endParaRPr sz="1400">
                        <a:latin typeface="Noto Sans KR Medium"/>
                        <a:ea typeface="Noto Sans KR Medium"/>
                        <a:cs typeface="Noto Sans KR Medium"/>
                      </a:endParaRPr>
                    </a:p>
                  </a:txBody>
                  <a:tcPr marL="91440" marR="91440" marT="45720" marB="45720"/>
                </a:tc>
              </a:tr>
              <a:tr h="248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Ai2020 </a:t>
                      </a:r>
                      <a:r>
                        <a:rPr sz="1200">
                          <a:solidFill>
                            <a:schemeClr val="tx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원논문</a:t>
                      </a:r>
                      <a:endParaRPr sz="1200">
                        <a:solidFill>
                          <a:schemeClr val="tx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3.000 </a:t>
                      </a:r>
                      <a:r>
                        <a:rPr sz="12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μ</a:t>
                      </a: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5.000 </a:t>
                      </a:r>
                      <a:r>
                        <a:rPr sz="12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μ</a:t>
                      </a: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</a:p>
                  </a:txBody>
                  <a:tcPr marL="91440" marR="91440" marT="45720" marB="45720" anchor="ctr"/>
                </a:tc>
              </a:tr>
              <a:tr h="413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SEM </a:t>
                      </a:r>
                      <a:r>
                        <a:rPr sz="1200">
                          <a:solidFill>
                            <a:schemeClr val="tx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기반 전체 평균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4.239 </a:t>
                      </a:r>
                      <a:r>
                        <a:rPr sz="12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μ</a:t>
                      </a: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3.692 </a:t>
                      </a:r>
                      <a:r>
                        <a:rPr sz="12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μ</a:t>
                      </a:r>
                      <a:r>
                        <a:rPr sz="1200" b="0"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560FBE6-B1D3-9A68-D7AC-3B4B23E8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6" y="6325672"/>
            <a:ext cx="7992888" cy="523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738"/>
              </a:spcAft>
              <a:buNone/>
            </a:pPr>
            <a:r>
              <a:rPr sz="1108">
                <a:latin typeface="Pretendard"/>
                <a:ea typeface="Pretendard"/>
                <a:cs typeface="Pretendard"/>
              </a:rPr>
              <a:t>양</a:t>
            </a:r>
            <a:r>
              <a:rPr sz="1108">
                <a:latin typeface="Pretendard"/>
                <a:ea typeface="Pretendard"/>
                <a:cs typeface="Pretendard"/>
              </a:rPr>
              <a:t>·</a:t>
            </a:r>
            <a:r>
              <a:rPr sz="1108">
                <a:latin typeface="Pretendard"/>
                <a:ea typeface="Pretendard"/>
                <a:cs typeface="Pretendard"/>
              </a:rPr>
              <a:t>음극 각각 </a:t>
            </a:r>
            <a:r>
              <a:rPr sz="1108">
                <a:latin typeface="Pretendard"/>
                <a:ea typeface="Pretendard"/>
                <a:cs typeface="Pretendard"/>
              </a:rPr>
              <a:t>2</a:t>
            </a:r>
            <a:r>
              <a:rPr sz="1108">
                <a:latin typeface="Pretendard"/>
                <a:ea typeface="Pretendard"/>
                <a:cs typeface="Pretendard"/>
              </a:rPr>
              <a:t>개 위치의 </a:t>
            </a:r>
            <a:r>
              <a:rPr sz="1108">
                <a:latin typeface="Pretendard"/>
                <a:ea typeface="Pretendard"/>
                <a:cs typeface="Pretendard"/>
              </a:rPr>
              <a:t>SEM </a:t>
            </a:r>
            <a:r>
              <a:rPr sz="1108">
                <a:latin typeface="Pretendard"/>
                <a:ea typeface="Pretendard"/>
                <a:cs typeface="Pretendard"/>
              </a:rPr>
              <a:t>이미지에서 입자 경계를 식별할 수 있는 영역을 선정하여 분석</a:t>
            </a:r>
          </a:p>
          <a:p xmlns:a="http://schemas.openxmlformats.org/drawingml/2006/main">
            <a:pPr>
              <a:spcAft>
                <a:spcPts val="738"/>
              </a:spcAft>
              <a:buNone/>
            </a:pPr>
            <a:r>
              <a:rPr sz="1108">
                <a:latin typeface="Pretendard"/>
                <a:ea typeface="Pretendard"/>
                <a:cs typeface="Pretendard"/>
              </a:rPr>
              <a:t>각 전극의 서로 다른 위치에서 촬영한 </a:t>
            </a:r>
            <a:r>
              <a:rPr sz="1108">
                <a:latin typeface="Pretendard"/>
                <a:ea typeface="Pretendard"/>
                <a:cs typeface="Pretendard"/>
              </a:rPr>
              <a:t>SEM </a:t>
            </a:r>
            <a:r>
              <a:rPr sz="1108">
                <a:latin typeface="Pretendard"/>
                <a:ea typeface="Pretendard"/>
                <a:cs typeface="Pretendard"/>
              </a:rPr>
              <a:t>이미지 </a:t>
            </a:r>
            <a:r>
              <a:rPr sz="1108">
                <a:latin typeface="Pretendard"/>
                <a:ea typeface="Pretendard"/>
                <a:cs typeface="Pretendard"/>
              </a:rPr>
              <a:t>2</a:t>
            </a:r>
            <a:r>
              <a:rPr sz="1108">
                <a:latin typeface="Pretendard"/>
                <a:ea typeface="Pretendard"/>
                <a:cs typeface="Pretendard"/>
              </a:rPr>
              <a:t>개 분석 </a:t>
            </a:r>
            <a:r>
              <a:rPr sz="1108">
                <a:latin typeface="Pretendard"/>
                <a:ea typeface="Pretendard"/>
                <a:cs typeface="Pretendard"/>
              </a:rPr>
              <a:t>(</a:t>
            </a:r>
            <a:r>
              <a:rPr sz="1108">
                <a:latin typeface="Pretendard"/>
                <a:ea typeface="Pretendard"/>
                <a:cs typeface="Pretendard"/>
              </a:rPr>
              <a:t>양극 </a:t>
            </a:r>
            <a:r>
              <a:rPr sz="1108">
                <a:latin typeface="Pretendard"/>
                <a:ea typeface="Pretendard"/>
                <a:cs typeface="Pretendard"/>
              </a:rPr>
              <a:t>20</a:t>
            </a:r>
            <a:r>
              <a:rPr sz="1108">
                <a:latin typeface="Pretendard"/>
                <a:ea typeface="Pretendard"/>
                <a:cs typeface="Pretendard"/>
              </a:rPr>
              <a:t>개</a:t>
            </a:r>
            <a:r>
              <a:rPr sz="1108">
                <a:latin typeface="Pretendard"/>
                <a:ea typeface="Pretendard"/>
                <a:cs typeface="Pretendard"/>
              </a:rPr>
              <a:t>, </a:t>
            </a:r>
            <a:r>
              <a:rPr sz="1108">
                <a:latin typeface="Pretendard"/>
                <a:ea typeface="Pretendard"/>
                <a:cs typeface="Pretendard"/>
              </a:rPr>
              <a:t>음극 </a:t>
            </a:r>
            <a:r>
              <a:rPr sz="1108">
                <a:latin typeface="Pretendard"/>
                <a:ea typeface="Pretendard"/>
                <a:cs typeface="Pretendard"/>
              </a:rPr>
              <a:t>44</a:t>
            </a:r>
            <a:r>
              <a:rPr sz="1108">
                <a:latin typeface="Pretendard"/>
                <a:ea typeface="Pretendard"/>
                <a:cs typeface="Pretendard"/>
              </a:rPr>
              <a:t>개 입자</a:t>
            </a:r>
            <a:r>
              <a:rPr sz="1108"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E37E293-A775-FE90-6B86-C63F685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0422" y="1988840"/>
            <a:ext cx="2736304" cy="28803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추후 근거 보완</a:t>
            </a:r>
          </a:p>
        </p:txBody>
      </p:sp>
    </p:spTree>
    <p:extLst>
      <p:ext uri="{BB962C8B-B14F-4D97-AF65-F5344CB8AC3E}">
        <p14:creationId xmlns:p14="http://schemas.microsoft.com/office/powerpoint/2010/main" val="4034351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6C992-39BF-4722-8E99-A95D5E15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46D9-511F-47F4-B3A9-7F28BCC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68754-8F63-4A1C-A072-8514D58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A2. 최종 충·방전 전압오차 및 중앙 SoC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235ED-7FF7-491F-A027-0CD33AA6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85875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56082"/>
                </a:solidFill>
              </a:defRPr>
            </a:defPPr>
            <a:lvl1pPr algn="l">
              <a:defRPr sz="1200" b="1">
                <a:solidFill>
                  <a:srgbClr val="156082"/>
                </a:solidFill>
              </a:defRPr>
            </a:lvl1pPr>
            <a:lvl2pPr algn="l">
              <a:defRPr sz="1200" b="1">
                <a:solidFill>
                  <a:srgbClr val="156082"/>
                </a:solidFill>
              </a:defRPr>
            </a:lvl2pPr>
            <a:lvl3pPr algn="l">
              <a:defRPr sz="1200" b="1">
                <a:solidFill>
                  <a:srgbClr val="156082"/>
                </a:solidFill>
              </a:defRPr>
            </a:lvl3pPr>
            <a:lvl4pPr algn="l">
              <a:defRPr sz="1200" b="1">
                <a:solidFill>
                  <a:srgbClr val="156082"/>
                </a:solidFill>
              </a:defRPr>
            </a:lvl4pPr>
            <a:lvl5pPr algn="l">
              <a:defRPr sz="1200" b="1">
                <a:solidFill>
                  <a:srgbClr val="156082"/>
                </a:solidFill>
              </a:defRPr>
            </a:lvl5pPr>
            <a:lvl6pPr algn="l">
              <a:defRPr sz="1200" b="1">
                <a:solidFill>
                  <a:srgbClr val="156082"/>
                </a:solidFill>
              </a:defRPr>
            </a:lvl6pPr>
            <a:lvl7pPr algn="l">
              <a:defRPr sz="1200" b="1">
                <a:solidFill>
                  <a:srgbClr val="156082"/>
                </a:solidFill>
              </a:defRPr>
            </a:lvl7pPr>
            <a:lvl8pPr algn="l">
              <a:defRPr sz="1200" b="1">
                <a:solidFill>
                  <a:srgbClr val="156082"/>
                </a:solidFill>
              </a:defRPr>
            </a:lvl8pPr>
            <a:lvl9pPr algn="l">
              <a:defRPr sz="120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전압오차 mV; 중앙 = 실제 풀셀 SoC 10–70% 중 실험·모델 공통 관측 구간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EEF44-35D2-429D-A46E-90580A5A2322}"/>
              </a:ext>
            </a:extLst>
          </p:cNvPr>
          <p:cNvGraphicFramePr/>
          <p:nvPr/>
        </p:nvGraphicFramePr>
        <p:xfrm>
          <a:off xmlns:a="http://schemas.openxmlformats.org/drawingml/2006/main" x="457200" y="1819275"/>
          <a:ext xmlns:a="http://schemas.openxmlformats.org/drawingml/2006/main" cx="9001125" cy="2781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0225"/>
                <a:gridCol w="1800225"/>
                <a:gridCol w="1800225"/>
                <a:gridCol w="1800225"/>
                <a:gridCol w="1800225"/>
              </a:tblGrid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전체 RMSE / MAE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중앙 RMSE / MAE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종료용량 오차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0.5C 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피팅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35.94 / 28.97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37.60 / 35.16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−1.84%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0.5C 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검증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35.60 / 27.26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30.01 / 26.28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+0.46%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1C 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피팅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42.18 / 28.57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26.21 / 24.00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−1.78%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1C 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검증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36.01 / 27.68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29.52 / 25.07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+0.91%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2C 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피팅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46.74 / 23.13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10.69 / 9.67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−3.40%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97329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2C 방전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검증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21.41 / 11.30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8.31 / 4.95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+0.03%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BE2C4-DA14-4F85-87CB-EC8FA60F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6727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56082"/>
                </a:solidFill>
              </a:defRPr>
            </a:defPPr>
            <a:lvl1pPr algn="l">
              <a:defRPr sz="1350" b="1">
                <a:solidFill>
                  <a:srgbClr val="156082"/>
                </a:solidFill>
              </a:defRPr>
            </a:lvl1pPr>
            <a:lvl2pPr algn="l">
              <a:defRPr sz="1350" b="1">
                <a:solidFill>
                  <a:srgbClr val="156082"/>
                </a:solidFill>
              </a:defRPr>
            </a:lvl2pPr>
            <a:lvl3pPr algn="l">
              <a:defRPr sz="1350" b="1">
                <a:solidFill>
                  <a:srgbClr val="156082"/>
                </a:solidFill>
              </a:defRPr>
            </a:lvl3pPr>
            <a:lvl4pPr algn="l">
              <a:defRPr sz="1350" b="1">
                <a:solidFill>
                  <a:srgbClr val="156082"/>
                </a:solidFill>
              </a:defRPr>
            </a:lvl4pPr>
            <a:lvl5pPr algn="l">
              <a:defRPr sz="1350" b="1">
                <a:solidFill>
                  <a:srgbClr val="156082"/>
                </a:solidFill>
              </a:defRPr>
            </a:lvl5pPr>
            <a:lvl6pPr algn="l">
              <a:defRPr sz="1350" b="1">
                <a:solidFill>
                  <a:srgbClr val="156082"/>
                </a:solidFill>
              </a:defRPr>
            </a:lvl6pPr>
            <a:lvl7pPr algn="l">
              <a:defRPr sz="1350" b="1">
                <a:solidFill>
                  <a:srgbClr val="156082"/>
                </a:solidFill>
              </a:defRPr>
            </a:lvl7pPr>
            <a:lvl8pPr algn="l">
              <a:defRPr sz="1350" b="1">
                <a:solidFill>
                  <a:srgbClr val="156082"/>
                </a:solidFill>
              </a:defRPr>
            </a:lvl8pPr>
            <a:lvl9pPr algn="l">
              <a:defRPr sz="13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6082"/>
                </a:solidFill>
              </a:defRPr>
            </a:pPr>
            <a:r>
              <a:rPr sz="1350" b="1">
                <a:solidFill>
                  <a:srgbClr val="156082"/>
                </a:solidFill>
              </a:rPr>
              <a:t>B→C 전체 RMSE 변화 (mV)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CFA17-8743-4173-961D-8BA888847A23}"/>
              </a:ext>
            </a:extLst>
          </p:cNvPr>
          <p:cNvGraphicFramePr/>
          <p:nvPr/>
        </p:nvGraphicFramePr>
        <p:xfrm>
          <a:off xmlns:a="http://schemas.openxmlformats.org/drawingml/2006/main" x="495300" y="5286375"/>
          <a:ext xmlns:a="http://schemas.openxmlformats.org/drawingml/2006/main" cx="8915400" cy="723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71800"/>
                <a:gridCol w="2971800"/>
                <a:gridCol w="2971800"/>
              </a:tblGrid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</a:rPr>
                        <a:t>0.5C 충 / 방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1C 충 / 방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</a:rPr>
                        <a:t>2C 충 / 방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938" b="0">
                          <a:solidFill>
                            <a:srgbClr val="262626"/>
                          </a:solidFill>
                        </a:rPr>
                        <a:t>32.53→35.94 / 29.72→35.60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44.09→42.18 / 32.73→36.01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262626"/>
                          </a:solidFill>
                        </a:rPr>
                        <a:t>57.10→46.74 / 35.21→21.41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36285-677B-4D7E-B974-B550205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10300"/>
            <a:ext cx="895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84426"/>
                </a:solidFill>
              </a:defRPr>
            </a:defPPr>
            <a:lvl1pPr algn="l">
              <a:defRPr sz="1050" b="1">
                <a:solidFill>
                  <a:srgbClr val="B84426"/>
                </a:solidFill>
              </a:defRPr>
            </a:lvl1pPr>
            <a:lvl2pPr algn="l">
              <a:defRPr sz="1050" b="1">
                <a:solidFill>
                  <a:srgbClr val="B84426"/>
                </a:solidFill>
              </a:defRPr>
            </a:lvl2pPr>
            <a:lvl3pPr algn="l">
              <a:defRPr sz="1050" b="1">
                <a:solidFill>
                  <a:srgbClr val="B84426"/>
                </a:solidFill>
              </a:defRPr>
            </a:lvl3pPr>
            <a:lvl4pPr algn="l">
              <a:defRPr sz="1050" b="1">
                <a:solidFill>
                  <a:srgbClr val="B84426"/>
                </a:solidFill>
              </a:defRPr>
            </a:lvl4pPr>
            <a:lvl5pPr algn="l">
              <a:defRPr sz="1050" b="1">
                <a:solidFill>
                  <a:srgbClr val="B84426"/>
                </a:solidFill>
              </a:defRPr>
            </a:lvl5pPr>
            <a:lvl6pPr algn="l">
              <a:defRPr sz="1050" b="1">
                <a:solidFill>
                  <a:srgbClr val="B84426"/>
                </a:solidFill>
              </a:defRPr>
            </a:lvl6pPr>
            <a:lvl7pPr algn="l">
              <a:defRPr sz="1050" b="1">
                <a:solidFill>
                  <a:srgbClr val="B84426"/>
                </a:solidFill>
              </a:defRPr>
            </a:lvl7pPr>
            <a:lvl8pPr algn="l">
              <a:defRPr sz="1050" b="1">
                <a:solidFill>
                  <a:srgbClr val="B84426"/>
                </a:solidFill>
              </a:defRPr>
            </a:lvl8pPr>
            <a:lvl9pPr algn="l">
              <a:defRPr sz="105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4426"/>
                </a:solidFill>
              </a:defRPr>
            </a:pPr>
            <a:r>
              <a:rPr sz="1050" b="1">
                <a:solidFill>
                  <a:srgbClr val="B84426"/>
                </a:solidFill>
              </a:rPr>
              <a:t>C는 2C와 종료용량을 개선하지만 0.5C 두 방향은 B보다 악화. 2C 충전 중앙값은 SoC 10.8–59.2%만 평가.</a:t>
            </a:r>
          </a:p>
        </p:txBody>
      </p:sp>
    </p:spTree>
    <p:extLst>
      <p:ext uri="{BB962C8B-B14F-4D97-AF65-F5344CB8AC3E}">
        <p14:creationId xmlns:p14="http://schemas.microsoft.com/office/powerpoint/2010/main" val="38714293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82CDA-688F-419F-A324-C3C4A02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9D9D6-8DB5-4741-996B-4673469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16EF8-29F3-4F65-A7AE-2245B99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A2. OCP window와 cₛ,max 계산 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F2415-7981-4461-A792-DD6B7E4E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895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56082"/>
                </a:solidFill>
              </a:defRPr>
            </a:defPPr>
            <a:lvl1pPr algn="l">
              <a:defRPr sz="1350" b="1">
                <a:solidFill>
                  <a:srgbClr val="156082"/>
                </a:solidFill>
              </a:defRPr>
            </a:lvl1pPr>
            <a:lvl2pPr algn="l">
              <a:defRPr sz="1350" b="1">
                <a:solidFill>
                  <a:srgbClr val="156082"/>
                </a:solidFill>
              </a:defRPr>
            </a:lvl2pPr>
            <a:lvl3pPr algn="l">
              <a:defRPr sz="1350" b="1">
                <a:solidFill>
                  <a:srgbClr val="156082"/>
                </a:solidFill>
              </a:defRPr>
            </a:lvl3pPr>
            <a:lvl4pPr algn="l">
              <a:defRPr sz="1350" b="1">
                <a:solidFill>
                  <a:srgbClr val="156082"/>
                </a:solidFill>
              </a:defRPr>
            </a:lvl4pPr>
            <a:lvl5pPr algn="l">
              <a:defRPr sz="1350" b="1">
                <a:solidFill>
                  <a:srgbClr val="156082"/>
                </a:solidFill>
              </a:defRPr>
            </a:lvl5pPr>
            <a:lvl6pPr algn="l">
              <a:defRPr sz="1350" b="1">
                <a:solidFill>
                  <a:srgbClr val="156082"/>
                </a:solidFill>
              </a:defRPr>
            </a:lvl6pPr>
            <a:lvl7pPr algn="l">
              <a:defRPr sz="1350" b="1">
                <a:solidFill>
                  <a:srgbClr val="156082"/>
                </a:solidFill>
              </a:defRPr>
            </a:lvl7pPr>
            <a:lvl8pPr algn="l">
              <a:defRPr sz="1350" b="1">
                <a:solidFill>
                  <a:srgbClr val="156082"/>
                </a:solidFill>
              </a:defRPr>
            </a:lvl8pPr>
            <a:lvl9pPr algn="l">
              <a:defRPr sz="13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6082"/>
                </a:solidFill>
              </a:defRPr>
            </a:pPr>
            <a:r>
              <a:rPr sz="1350" b="1">
                <a:solidFill>
                  <a:srgbClr val="156082"/>
                </a:solidFill>
              </a:rPr>
              <a:t>실험 평균용량 Qcell = (2.355758 + 2.357298) / 2 = 2.356528 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82A6A-949A-4D94-B97D-8BD5A81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8934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262626"/>
                </a:solidFill>
              </a:defRPr>
            </a:defPPr>
            <a:lvl1pPr algn="l">
              <a:defRPr sz="1275" b="0">
                <a:solidFill>
                  <a:srgbClr val="262626"/>
                </a:solidFill>
              </a:defRPr>
            </a:lvl1pPr>
            <a:lvl2pPr algn="l">
              <a:defRPr sz="1275" b="0">
                <a:solidFill>
                  <a:srgbClr val="262626"/>
                </a:solidFill>
              </a:defRPr>
            </a:lvl2pPr>
            <a:lvl3pPr algn="l">
              <a:defRPr sz="1275" b="0">
                <a:solidFill>
                  <a:srgbClr val="262626"/>
                </a:solidFill>
              </a:defRPr>
            </a:lvl3pPr>
            <a:lvl4pPr algn="l">
              <a:defRPr sz="1275" b="0">
                <a:solidFill>
                  <a:srgbClr val="262626"/>
                </a:solidFill>
              </a:defRPr>
            </a:lvl4pPr>
            <a:lvl5pPr algn="l">
              <a:defRPr sz="1275" b="0">
                <a:solidFill>
                  <a:srgbClr val="262626"/>
                </a:solidFill>
              </a:defRPr>
            </a:lvl5pPr>
            <a:lvl6pPr algn="l">
              <a:defRPr sz="1275" b="0">
                <a:solidFill>
                  <a:srgbClr val="262626"/>
                </a:solidFill>
              </a:defRPr>
            </a:lvl6pPr>
            <a:lvl7pPr algn="l">
              <a:defRPr sz="1275" b="0">
                <a:solidFill>
                  <a:srgbClr val="262626"/>
                </a:solidFill>
              </a:defRPr>
            </a:lvl7pPr>
            <a:lvl8pPr algn="l">
              <a:defRPr sz="1275" b="0">
                <a:solidFill>
                  <a:srgbClr val="262626"/>
                </a:solidFill>
              </a:defRPr>
            </a:lvl8pPr>
            <a:lvl9pPr algn="l">
              <a:defRPr sz="1275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62626"/>
                </a:solidFill>
              </a:defRPr>
            </a:pPr>
            <a:r>
              <a:rPr sz="1275" b="0">
                <a:solidFill>
                  <a:srgbClr val="262626"/>
                </a:solidFill>
              </a:rPr>
              <a:t>Qₙ=Qcell/(x₁₀₀−x₀),  Qₚ=Qcell/(y₀−y₁₀₀),  cₛ,max,k=3600 Qₖ/(F A Lₖ εₛ,k)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646FF-9B6D-4F28-8AB1-AFCDDABD0E4D}"/>
              </a:ext>
            </a:extLst>
          </p:cNvPr>
          <p:cNvGraphicFramePr/>
          <p:nvPr/>
        </p:nvGraphicFramePr>
        <p:xfrm>
          <a:off xmlns:a="http://schemas.openxmlformats.org/drawingml/2006/main" x="876300" y="2495550"/>
          <a:ext xmlns:a="http://schemas.openxmlformats.org/drawingml/2006/main" cx="8143875" cy="2781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714625"/>
                <a:gridCol w="2714625"/>
              </a:tblGrid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음극 n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양극 p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62626"/>
                          </a:solidFill>
                        </a:rPr>
                        <a:t>공통 overlap 면적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787.236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787.236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62626"/>
                          </a:solidFill>
                        </a:rPr>
                        <a:t>전극 두께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76.5 µm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68.0 µm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62626"/>
                          </a:solidFill>
                        </a:rPr>
                        <a:t>활물질 부피분율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0.610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0.620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62626"/>
                          </a:solidFill>
                        </a:rPr>
                        <a:t>Ai2020 OCP window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0.003803–0.954167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0.970716–0.431646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262626"/>
                          </a:solidFill>
                        </a:rPr>
                        <a:t>cₛ,max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25,184.17 mol m⁻³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62626"/>
                          </a:solidFill>
                        </a:rPr>
                        <a:t>49,143.14 mol m⁻³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D2F63-C32F-4C82-BA1B-E06073D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292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56082"/>
                </a:solidFill>
              </a:defRPr>
            </a:defPPr>
            <a:lvl1pPr algn="l">
              <a:defRPr sz="1200" b="1">
                <a:solidFill>
                  <a:srgbClr val="156082"/>
                </a:solidFill>
              </a:defRPr>
            </a:lvl1pPr>
            <a:lvl2pPr algn="l">
              <a:defRPr sz="1200" b="1">
                <a:solidFill>
                  <a:srgbClr val="156082"/>
                </a:solidFill>
              </a:defRPr>
            </a:lvl2pPr>
            <a:lvl3pPr algn="l">
              <a:defRPr sz="1200" b="1">
                <a:solidFill>
                  <a:srgbClr val="156082"/>
                </a:solidFill>
              </a:defRPr>
            </a:lvl3pPr>
            <a:lvl4pPr algn="l">
              <a:defRPr sz="1200" b="1">
                <a:solidFill>
                  <a:srgbClr val="156082"/>
                </a:solidFill>
              </a:defRPr>
            </a:lvl4pPr>
            <a:lvl5pPr algn="l">
              <a:defRPr sz="1200" b="1">
                <a:solidFill>
                  <a:srgbClr val="156082"/>
                </a:solidFill>
              </a:defRPr>
            </a:lvl5pPr>
            <a:lvl6pPr algn="l">
              <a:defRPr sz="1200" b="1">
                <a:solidFill>
                  <a:srgbClr val="156082"/>
                </a:solidFill>
              </a:defRPr>
            </a:lvl6pPr>
            <a:lvl7pPr algn="l">
              <a:defRPr sz="1200" b="1">
                <a:solidFill>
                  <a:srgbClr val="156082"/>
                </a:solidFill>
              </a:defRPr>
            </a:lvl7pPr>
            <a:lvl8pPr algn="l">
              <a:defRPr sz="1200" b="1">
                <a:solidFill>
                  <a:srgbClr val="156082"/>
                </a:solidFill>
              </a:defRPr>
            </a:lvl8pPr>
            <a:lvl9pPr algn="l">
              <a:defRPr sz="120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측정 음극 OCP 분기는 x₀/x₁₀₀=0.002150/0.739784, cₛ,max,n=32,447.1 mol m⁻³로 별도 계산.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0DF22-8E56-4661-9F4E-D3974482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722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84426"/>
                </a:solidFill>
              </a:defRPr>
            </a:defPPr>
            <a:lvl1pPr algn="l">
              <a:defRPr sz="1050" b="1">
                <a:solidFill>
                  <a:srgbClr val="B84426"/>
                </a:solidFill>
              </a:defRPr>
            </a:lvl1pPr>
            <a:lvl2pPr algn="l">
              <a:defRPr sz="1050" b="1">
                <a:solidFill>
                  <a:srgbClr val="B84426"/>
                </a:solidFill>
              </a:defRPr>
            </a:lvl2pPr>
            <a:lvl3pPr algn="l">
              <a:defRPr sz="1050" b="1">
                <a:solidFill>
                  <a:srgbClr val="B84426"/>
                </a:solidFill>
              </a:defRPr>
            </a:lvl3pPr>
            <a:lvl4pPr algn="l">
              <a:defRPr sz="1050" b="1">
                <a:solidFill>
                  <a:srgbClr val="B84426"/>
                </a:solidFill>
              </a:defRPr>
            </a:lvl4pPr>
            <a:lvl5pPr algn="l">
              <a:defRPr sz="1050" b="1">
                <a:solidFill>
                  <a:srgbClr val="B84426"/>
                </a:solidFill>
              </a:defRPr>
            </a:lvl5pPr>
            <a:lvl6pPr algn="l">
              <a:defRPr sz="1050" b="1">
                <a:solidFill>
                  <a:srgbClr val="B84426"/>
                </a:solidFill>
              </a:defRPr>
            </a:lvl6pPr>
            <a:lvl7pPr algn="l">
              <a:defRPr sz="1050" b="1">
                <a:solidFill>
                  <a:srgbClr val="B84426"/>
                </a:solidFill>
              </a:defRPr>
            </a:lvl7pPr>
            <a:lvl8pPr algn="l">
              <a:defRPr sz="1050" b="1">
                <a:solidFill>
                  <a:srgbClr val="B84426"/>
                </a:solidFill>
              </a:defRPr>
            </a:lvl8pPr>
            <a:lvl9pPr algn="l">
              <a:defRPr sz="105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4426"/>
                </a:solidFill>
              </a:defRPr>
            </a:pPr>
            <a:r>
              <a:rPr sz="1050" b="1">
                <a:solidFill>
                  <a:srgbClr val="B84426"/>
                </a:solidFill>
              </a:rPr>
              <a:t>주의: 과거 슬라이드의 Qcell 2.35628 Ah는 자릿수 누락; kₙ·kₚ 환산에 다른 OCP 분기의 cₛ,max를 혼용하지 않음.</a:t>
            </a:r>
          </a:p>
        </p:txBody>
      </p:sp>
    </p:spTree>
    <p:extLst>
      <p:ext uri="{BB962C8B-B14F-4D97-AF65-F5344CB8AC3E}">
        <p14:creationId xmlns:p14="http://schemas.microsoft.com/office/powerpoint/2010/main" val="40583663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95" name="제목 2">
            <a:extLst xmlns:a="http://schemas.openxmlformats.org/drawingml/2006/main">
              <a:ext uri="{FF2B5EF4-FFF2-40B4-BE49-F238E27FC236}">
                <a16:creationId xmlns:a16="http://schemas.microsoft.com/office/drawing/2014/main" id="{691B6E49-8E16-2EF1-552B-6018D167E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233363"/>
            <a:ext cx="8915400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Appendix. </a:t>
            </a:r>
            <a:r>
              <a:t>파라미터 선정 근거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0A946E5-EE17-A4D7-3B29-ED735274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6" y="743134"/>
            <a:ext cx="6195380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A3. Dsp/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Dsn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선정 근거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853FC8-8F2A-3A57-83E4-0057700F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99" y="1163166"/>
            <a:ext cx="9433048" cy="11632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85750" indent="-285750">
              <a:lnSpc>
                <a:spcPct val="150000"/>
              </a:lnSpc>
              <a:spcAft>
                <a:spcPts val="800"/>
              </a:spcAft>
              <a:buFont typeface="Wingdings"/>
              <a:buChar char="ü"/>
            </a:pPr>
            <a:r>
              <a:rPr sz="1300" b="1">
                <a:latin typeface="Pretendard"/>
                <a:ea typeface="Pretendard"/>
                <a:cs typeface="Pretendard"/>
              </a:rPr>
              <a:t>GITT는 반복 측정 </a:t>
            </a:r>
            <a:r>
              <a:rPr sz="1300" b="1">
                <a:latin typeface="Pretendard"/>
                <a:ea typeface="Pretendard"/>
                <a:cs typeface="Pretendard"/>
              </a:rPr>
              <a:t>재현성이</a:t>
            </a:r>
            <a:r>
              <a:rPr sz="1300" b="1"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latin typeface="Pretendard"/>
                <a:ea typeface="Pretendard"/>
                <a:cs typeface="Pretendard"/>
              </a:rPr>
              <a:t>확인되</a:t>
            </a:r>
            <a:r>
              <a:rPr sz="1300" b="1">
                <a:latin typeface="Pretendard"/>
                <a:ea typeface="Pretendard"/>
                <a:cs typeface="Pretendard"/>
              </a:rPr>
              <a:t>었으며</a:t>
            </a:r>
            <a:r>
              <a:rPr sz="1300" b="1">
                <a:latin typeface="Pretendard"/>
                <a:ea typeface="Pretendard"/>
                <a:cs typeface="Pretendard"/>
              </a:rPr>
              <a:t>, D</a:t>
            </a:r>
            <a:r>
              <a:rPr sz="1300" b="1" baseline="-25000">
                <a:latin typeface="Pretendard"/>
                <a:ea typeface="Pretendard"/>
                <a:cs typeface="Pretendard"/>
              </a:rPr>
              <a:t>sp</a:t>
            </a:r>
            <a:r>
              <a:rPr sz="1300" b="1">
                <a:latin typeface="Pretendard"/>
                <a:ea typeface="Pretendard"/>
                <a:cs typeface="Pretendard"/>
              </a:rPr>
              <a:t>, D</a:t>
            </a:r>
            <a:r>
              <a:rPr sz="1300" b="1" baseline="-25000">
                <a:latin typeface="Pretendard"/>
                <a:ea typeface="Pretendard"/>
                <a:cs typeface="Pretendard"/>
              </a:rPr>
              <a:t>sn</a:t>
            </a:r>
            <a:r>
              <a:rPr sz="1300" b="1">
                <a:latin typeface="Pretendard"/>
                <a:ea typeface="Pretendard"/>
                <a:cs typeface="Pretendard"/>
              </a:rPr>
              <a:t>의 초기값 및 fitting bound </a:t>
            </a:r>
            <a:r>
              <a:rPr sz="1300" b="1">
                <a:latin typeface="Pretendard"/>
                <a:ea typeface="Pretendard"/>
                <a:cs typeface="Pretendard"/>
              </a:rPr>
              <a:t>설정에</a:t>
            </a:r>
            <a:r>
              <a:rPr sz="1300" b="1"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latin typeface="Pretendard"/>
                <a:ea typeface="Pretendard"/>
                <a:cs typeface="Pretendard"/>
              </a:rPr>
              <a:t>활용</a:t>
            </a:r>
            <a:endParaRPr sz="1300" b="1" kern="1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spcAft>
                <a:spcPts val="800"/>
              </a:spcAft>
              <a:buFont typeface="Wingdings"/>
              <a:buChar char="ü"/>
            </a:pPr>
            <a:r>
              <a:rPr sz="1300" b="1">
                <a:latin typeface="Pretendard"/>
                <a:ea typeface="Pretendard"/>
                <a:cs typeface="Pretendard"/>
              </a:rPr>
              <a:t>Dsn</a:t>
            </a:r>
            <a:r>
              <a:rPr sz="1300" b="1">
                <a:latin typeface="Pretendard"/>
                <a:ea typeface="Pretendard"/>
                <a:cs typeface="Pretendard"/>
              </a:rPr>
              <a:t>은 </a:t>
            </a:r>
            <a:r>
              <a:rPr sz="1300" b="1">
                <a:latin typeface="Pretendard"/>
                <a:ea typeface="Pretendard"/>
                <a:cs typeface="Pretendard"/>
              </a:rPr>
              <a:t>fitting </a:t>
            </a:r>
            <a:r>
              <a:rPr sz="1300" b="1">
                <a:latin typeface="Pretendard"/>
                <a:ea typeface="Pretendard"/>
                <a:cs typeface="Pretendard"/>
              </a:rPr>
              <a:t>초기값 및 </a:t>
            </a:r>
            <a:r>
              <a:rPr sz="1300" b="1">
                <a:latin typeface="Pretendard"/>
                <a:ea typeface="Pretendard"/>
                <a:cs typeface="Pretendard"/>
              </a:rPr>
              <a:t>bound </a:t>
            </a:r>
            <a:r>
              <a:rPr sz="1300" b="1">
                <a:latin typeface="Pretendard"/>
                <a:ea typeface="Pretendard"/>
                <a:cs typeface="Pretendard"/>
              </a:rPr>
              <a:t>설정에 활용하고</a:t>
            </a:r>
            <a:r>
              <a:rPr sz="1300" b="1">
                <a:latin typeface="Pretendard"/>
                <a:ea typeface="Pretendard"/>
                <a:cs typeface="Pretendard"/>
              </a:rPr>
              <a:t>, </a:t>
            </a:r>
            <a:r>
              <a:rPr sz="1300" b="1">
                <a:latin typeface="Pretendard"/>
                <a:ea typeface="Pretendard"/>
                <a:cs typeface="Pretendard"/>
              </a:rPr>
              <a:t>민감도가 낮은 </a:t>
            </a:r>
            <a:r>
              <a:rPr sz="1300" b="1">
                <a:latin typeface="Pretendard"/>
                <a:ea typeface="Pretendard"/>
                <a:cs typeface="Pretendard"/>
              </a:rPr>
              <a:t>Dsp</a:t>
            </a:r>
            <a:r>
              <a:rPr sz="1300" b="1">
                <a:latin typeface="Pretendard"/>
                <a:ea typeface="Pretendard"/>
                <a:cs typeface="Pretendard"/>
              </a:rPr>
              <a:t>는 </a:t>
            </a:r>
            <a:r>
              <a:rPr sz="1300" b="1">
                <a:latin typeface="Pretendard"/>
                <a:ea typeface="Pretendard"/>
                <a:cs typeface="Pretendard"/>
              </a:rPr>
              <a:t>1</a:t>
            </a:r>
            <a:r>
              <a:rPr sz="1300" b="1">
                <a:latin typeface="Pretendard"/>
                <a:ea typeface="Pretendard"/>
                <a:cs typeface="Pretendard"/>
              </a:rPr>
              <a:t>차 </a:t>
            </a:r>
            <a:r>
              <a:rPr sz="1300" b="1">
                <a:latin typeface="Pretendard"/>
                <a:ea typeface="Pretendard"/>
                <a:cs typeface="Pretendard"/>
              </a:rPr>
              <a:t>fitting</a:t>
            </a:r>
            <a:r>
              <a:rPr sz="1300" b="1">
                <a:latin typeface="Pretendard"/>
                <a:ea typeface="Pretendard"/>
                <a:cs typeface="Pretendard"/>
              </a:rPr>
              <a:t>값으로 고정 예정</a:t>
            </a:r>
            <a:r>
              <a:rPr sz="1300" b="1">
                <a:latin typeface="Pretendard"/>
                <a:ea typeface="Pretendard"/>
                <a:cs typeface="Pretendard"/>
              </a:rPr>
              <a:t>.</a:t>
            </a:r>
          </a:p>
          <a:p xmlns:a="http://schemas.openxmlformats.org/drawingml/2006/main">
            <a:pPr>
              <a:lnSpc>
                <a:spcPct val="150000"/>
              </a:lnSpc>
              <a:spcAft>
                <a:spcPts val="800"/>
              </a:spcAft>
              <a:buNone/>
            </a:pPr>
            <a:endParaRPr sz="1300" b="1" kern="100">
              <a:latin typeface="Pretendard"/>
              <a:ea typeface="Pretendard"/>
              <a:cs typeface="Pretendard"/>
            </a:endParaRP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186D8D94-8667-431D-B144-8F6E467DD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5102a49ef43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4848" y="2072890"/>
            <a:ext cx="2086266" cy="50489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표 5">
            <a:extLst xmlns:a="http://schemas.openxmlformats.org/drawingml/2006/main">
              <a:ext uri="{FF2B5EF4-FFF2-40B4-BE49-F238E27FC236}">
                <a16:creationId xmlns:a16="http://schemas.microsoft.com/office/drawing/2014/main" id="{CB9FDEA2-7DA1-4B9D-8F0F-DD77DA7DA449}"/>
              </a:ext>
            </a:extLst>
          </p:cNvPr>
          <p:cNvGraphicFramePr/>
          <p:nvPr/>
        </p:nvGraphicFramePr>
        <p:xfrm>
          <a:off xmlns:a="http://schemas.openxmlformats.org/drawingml/2006/main" x="2144688" y="2988396"/>
          <a:ext xmlns:a="http://schemas.openxmlformats.org/drawingml/2006/main" cx="5765656" cy="131785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14"/>
                <a:gridCol w="1441414"/>
                <a:gridCol w="1441414"/>
                <a:gridCol w="1441414"/>
              </a:tblGrid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Parameter</a:t>
                      </a:r>
                      <a:endParaRPr sz="10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Anode</a:t>
                      </a:r>
                      <a:endParaRPr sz="10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Cathode </a:t>
                      </a:r>
                      <a:endParaRPr sz="10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근거</a:t>
                      </a:r>
                    </a:p>
                  </a:txBody>
                  <a:tcPr marL="67242" marR="67242" marT="33621" marB="33621"/>
                </a:tc>
              </a:tr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m</a:t>
                      </a:r>
                      <a:r>
                        <a:rPr sz="1000" baseline="-25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</a:t>
                      </a:r>
                      <a:endParaRPr sz="1000" baseline="-25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0.01010g</a:t>
                      </a: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0.01735g</a:t>
                      </a: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단면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coating mass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실측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</a:tr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M</a:t>
                      </a:r>
                      <a:r>
                        <a:rPr sz="1000" baseline="-25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B</a:t>
                      </a: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72.066 g/mol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97.87 g/mol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C6, LiCoO2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화학식</a:t>
                      </a:r>
                    </a:p>
                  </a:txBody>
                  <a:tcPr marL="67242" marR="67242" marT="33621" marB="33621"/>
                </a:tc>
              </a:tr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sSub>
                              <m:e>
                                <m:r>
                                  <a:rPr xmlns:a="http://schemas.openxmlformats.org/drawingml/2006/main" lang="en-US" sz="1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xmlns:a="http://schemas.openxmlformats.org/drawingml/2006/main" lang="en-US" sz="1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xmlns:a="http://schemas.openxmlformats.org/drawingml/2006/main" lang="en-US" sz="1000" i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xmlns:a="http://schemas.openxmlformats.org/drawingml/2006/main" lang="en-US" sz="1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𝑀</m:t>
                            </m:r>
                            <m:r>
                              <a:rPr xmlns:a="http://schemas.openxmlformats.org/drawingml/2006/main" lang="en-US" sz="1000" i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xmlns:a="http://schemas.openxmlformats.org/drawingml/2006/main" lang="en-US" sz="1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𝜌</m:t>
                            </m:r>
                          </m:oMath>
                        </m:oMathPara>
                      </a14:m>
                      <a:endParaRPr sz="1000" baseline="-25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31.89 cm3/mol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19.38 cm3/mol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이론밀도 적용</a:t>
                      </a:r>
                    </a:p>
                  </a:txBody>
                  <a:tcPr marL="67242" marR="67242" marT="33621" marB="33621"/>
                </a:tc>
              </a:tr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0.7854 cm2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0.7854 cm2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10mm disk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</a:tr>
              <a:tr h="192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Pulse time 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ko-KR" sz="1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𝜏</m:t>
                            </m:r>
                          </m:oMath>
                        </m:oMathPara>
                      </a14:m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600s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600s</a:t>
                      </a:r>
                      <a:endParaRPr sz="1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GITT CC pulse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조건</a:t>
                      </a:r>
                    </a:p>
                  </a:txBody>
                  <a:tcPr marL="67242" marR="67242" marT="33621" marB="33621"/>
                </a:tc>
              </a:tr>
            </a:tbl>
          </a:graphicData>
        </a:graphic>
      </p:graphicFrame>
      <p:cxnSp>
        <p:nvCxnSpPr>
          <p:cNvPr id="7" name="직선 화살표 연결선 6">
            <a:extLst xmlns:a="http://schemas.openxmlformats.org/drawingml/2006/main">
              <a:ext uri="{FF2B5EF4-FFF2-40B4-BE49-F238E27FC236}">
                <a16:creationId xmlns:a16="http://schemas.microsoft.com/office/drawing/2014/main" id="{CB2294F3-2AB2-43B6-B571-66A734F670FE}"/>
              </a:ext>
            </a:extLst>
          </p:cNvPr>
          <p:cNvCxnSpPr/>
          <p:nvPr/>
        </p:nvCxnSpPr>
        <p:spPr>
          <a:xfrm xmlns:a="http://schemas.openxmlformats.org/drawingml/2006/main">
            <a:off x="4880992" y="4692658"/>
            <a:ext cx="0" cy="43204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8" name="표 7">
            <a:extLst xmlns:a="http://schemas.openxmlformats.org/drawingml/2006/main">
              <a:ext uri="{FF2B5EF4-FFF2-40B4-BE49-F238E27FC236}">
                <a16:creationId xmlns:a16="http://schemas.microsoft.com/office/drawing/2014/main" id="{3DFA3CB1-1813-46CF-B49B-BE20B9722201}"/>
              </a:ext>
            </a:extLst>
          </p:cNvPr>
          <p:cNvGraphicFramePr/>
          <p:nvPr/>
        </p:nvGraphicFramePr>
        <p:xfrm>
          <a:off xmlns:a="http://schemas.openxmlformats.org/drawingml/2006/main" x="3440834" y="5365370"/>
          <a:ext xmlns:a="http://schemas.openxmlformats.org/drawingml/2006/main" cx="2854198" cy="9439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099"/>
                <a:gridCol w="1427099"/>
              </a:tblGrid>
              <a:tr h="31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Parameter</a:t>
                      </a:r>
                      <a:endParaRPr sz="10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latin typeface="+mn-lt"/>
                          <a:ea typeface="+mn-lt"/>
                          <a:cs typeface="+mn-lt"/>
                        </a:rPr>
                        <a:t>GITT </a:t>
                      </a:r>
                      <a:endParaRPr sz="10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7242" marR="67242" marT="33621" marB="33621"/>
                </a:tc>
              </a:tr>
              <a:tr h="31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aseline="-25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Dsn</a:t>
                      </a:r>
                      <a:endParaRPr sz="1200" baseline="-25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4.171 * 10</a:t>
                      </a:r>
                      <a:r>
                        <a:rPr sz="1200" baseline="30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-14</a:t>
                      </a:r>
                    </a:p>
                  </a:txBody>
                  <a:tcPr marL="67242" marR="67242" marT="33621" marB="33621"/>
                </a:tc>
              </a:tr>
              <a:tr h="31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aseline="-25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Dsp</a:t>
                      </a:r>
                    </a:p>
                  </a:txBody>
                  <a:tcPr marL="67242" marR="67242" marT="33621" marB="33621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6.888*10</a:t>
                      </a:r>
                      <a:r>
                        <a:rPr sz="1200" baseline="30000">
                          <a:solidFill>
                            <a:schemeClr val="tx1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-14</a:t>
                      </a:r>
                      <a:endParaRPr sz="1200" baseline="30000">
                        <a:solidFill>
                          <a:schemeClr val="tx1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67242" marR="67242" marT="33621" marB="33621"/>
                </a:tc>
              </a:tr>
            </a:tbl>
          </a:graphicData>
        </a:graphic>
      </p:graphicFrame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8B4E5C7-ED4E-460B-C00F-D4FA55C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736" y="1772816"/>
            <a:ext cx="2736304" cy="288032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(</a:t>
            </a:r>
            <a:r>
              <a:t>추후 보완</a:t>
            </a:r>
            <a:r>
              <a:t>)</a:t>
            </a:r>
          </a:p>
          <a:p xmlns:a="http://schemas.openxmlformats.org/drawingml/2006/main">
            <a:pPr algn="ctr">
              <a:buNone/>
            </a:pPr>
            <a:r>
              <a:t>파일에서 어떻게</a:t>
            </a:r>
            <a:endParaRPr/>
          </a:p>
          <a:p xmlns:a="http://schemas.openxmlformats.org/drawingml/2006/main">
            <a:pPr algn="ctr">
              <a:buNone/>
            </a:pPr>
            <a:r>
              <a:t>추출해서 정했는지 </a:t>
            </a:r>
            <a:endParaRPr/>
          </a:p>
          <a:p xmlns:a="http://schemas.openxmlformats.org/drawingml/2006/main">
            <a:pPr algn="ctr">
              <a:buNone/>
            </a:pPr>
            <a:r>
              <a:t>보완</a:t>
            </a:r>
          </a:p>
        </p:txBody>
      </p:sp>
    </p:spTree>
    <p:extLst>
      <p:ext uri="{BB962C8B-B14F-4D97-AF65-F5344CB8AC3E}">
        <p14:creationId xmlns:p14="http://schemas.microsoft.com/office/powerpoint/2010/main" val="21664488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9E9A6-6FBE-4C38-811B-71DC6E22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E46C7-ED9A-4FEE-8028-B415521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151B9-EE95-4004-93DE-6465418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A4. 양극 EIS–DRT 기반 kₚ 최신값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0E16A-56B0-4AC8-A959-365F23D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8905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56082"/>
                </a:solidFill>
              </a:defRPr>
            </a:defPPr>
            <a:lvl1pPr algn="l">
              <a:defRPr sz="1350" b="1">
                <a:solidFill>
                  <a:srgbClr val="156082"/>
                </a:solidFill>
              </a:defRPr>
            </a:lvl1pPr>
            <a:lvl2pPr algn="l">
              <a:defRPr sz="1350" b="1">
                <a:solidFill>
                  <a:srgbClr val="156082"/>
                </a:solidFill>
              </a:defRPr>
            </a:lvl2pPr>
            <a:lvl3pPr algn="l">
              <a:defRPr sz="1350" b="1">
                <a:solidFill>
                  <a:srgbClr val="156082"/>
                </a:solidFill>
              </a:defRPr>
            </a:lvl3pPr>
            <a:lvl4pPr algn="l">
              <a:defRPr sz="1350" b="1">
                <a:solidFill>
                  <a:srgbClr val="156082"/>
                </a:solidFill>
              </a:defRPr>
            </a:lvl4pPr>
            <a:lvl5pPr algn="l">
              <a:defRPr sz="1350" b="1">
                <a:solidFill>
                  <a:srgbClr val="156082"/>
                </a:solidFill>
              </a:defRPr>
            </a:lvl5pPr>
            <a:lvl6pPr algn="l">
              <a:defRPr sz="1350" b="1">
                <a:solidFill>
                  <a:srgbClr val="156082"/>
                </a:solidFill>
              </a:defRPr>
            </a:lvl6pPr>
            <a:lvl7pPr algn="l">
              <a:defRPr sz="1350" b="1">
                <a:solidFill>
                  <a:srgbClr val="156082"/>
                </a:solidFill>
              </a:defRPr>
            </a:lvl7pPr>
            <a:lvl8pPr algn="l">
              <a:defRPr sz="1350" b="1">
                <a:solidFill>
                  <a:srgbClr val="156082"/>
                </a:solidFill>
              </a:defRPr>
            </a:lvl8pPr>
            <a:lvl9pPr algn="l">
              <a:defRPr sz="13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6082"/>
                </a:solidFill>
              </a:defRPr>
            </a:pPr>
            <a:r>
              <a:rPr sz="1350" b="1">
                <a:solidFill>
                  <a:srgbClr val="156082"/>
                </a:solidFill>
              </a:rPr>
              <a:t>양극 charge-transfer 피크 P4의 반복 재현성을 근거로 Rct=25.387 Ω cm² 적용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02598-C08F-4C2F-A56A-229D803482B9}"/>
              </a:ext>
            </a:extLst>
          </p:cNvPr>
          <p:cNvGraphicFramePr/>
          <p:nvPr/>
        </p:nvGraphicFramePr>
        <p:xfrm>
          <a:off xmlns:a="http://schemas.openxmlformats.org/drawingml/2006/main" x="523875" y="2019300"/>
          <a:ext xmlns:a="http://schemas.openxmlformats.org/drawingml/2006/main" cx="8858250" cy="2905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2952750"/>
                <a:gridCol w="2952750"/>
              </a:tblGrid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계산 입력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적용값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Rct,p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25.387 Ω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양극 EIS–DRT P4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Lₚ · εₛ,p · rₚ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68.0 µm · 0.620 · 4.239 µm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최신 전극 기하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cₛ,max,p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49,143.14 mol m⁻³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현재 OCP window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cₑ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1000 mol m⁻³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초기 전해질 농도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j₀,p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0.339 A m⁻²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Rct 환산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kₚ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4.768216×10⁻⁷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현재 모든 A/B/C 계산에 고정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43098-17C7-437D-B79F-B836FF05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2387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B84426"/>
                </a:solidFill>
              </a:defRPr>
            </a:defPPr>
            <a:lvl1pPr algn="l">
              <a:defRPr sz="1275" b="1">
                <a:solidFill>
                  <a:srgbClr val="B84426"/>
                </a:solidFill>
              </a:defRPr>
            </a:lvl1pPr>
            <a:lvl2pPr algn="l">
              <a:defRPr sz="1275" b="1">
                <a:solidFill>
                  <a:srgbClr val="B84426"/>
                </a:solidFill>
              </a:defRPr>
            </a:lvl2pPr>
            <a:lvl3pPr algn="l">
              <a:defRPr sz="1275" b="1">
                <a:solidFill>
                  <a:srgbClr val="B84426"/>
                </a:solidFill>
              </a:defRPr>
            </a:lvl3pPr>
            <a:lvl4pPr algn="l">
              <a:defRPr sz="1275" b="1">
                <a:solidFill>
                  <a:srgbClr val="B84426"/>
                </a:solidFill>
              </a:defRPr>
            </a:lvl4pPr>
            <a:lvl5pPr algn="l">
              <a:defRPr sz="1275" b="1">
                <a:solidFill>
                  <a:srgbClr val="B84426"/>
                </a:solidFill>
              </a:defRPr>
            </a:lvl5pPr>
            <a:lvl6pPr algn="l">
              <a:defRPr sz="1275" b="1">
                <a:solidFill>
                  <a:srgbClr val="B84426"/>
                </a:solidFill>
              </a:defRPr>
            </a:lvl6pPr>
            <a:lvl7pPr algn="l">
              <a:defRPr sz="1275" b="1">
                <a:solidFill>
                  <a:srgbClr val="B84426"/>
                </a:solidFill>
              </a:defRPr>
            </a:lvl7pPr>
            <a:lvl8pPr algn="l">
              <a:defRPr sz="1275" b="1">
                <a:solidFill>
                  <a:srgbClr val="B84426"/>
                </a:solidFill>
              </a:defRPr>
            </a:lvl8pPr>
            <a:lvl9pPr algn="l">
              <a:defRPr sz="1275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84426"/>
                </a:solidFill>
              </a:defRPr>
            </a:pPr>
            <a:r>
              <a:rPr sz="1275" b="1">
                <a:solidFill>
                  <a:srgbClr val="B84426"/>
                </a:solidFill>
              </a:rPr>
              <a:t>과거 PPT의 4.37×10⁻⁷ 및 10/20 공동 피팅의 5.89952×10⁻⁷은 이번 모델의 입력값이 아님.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4507B-DC4F-41D6-A569-E960394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10275"/>
            <a:ext cx="876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156082"/>
                </a:solidFill>
              </a:defRPr>
            </a:defPPr>
            <a:lvl1pPr algn="l">
              <a:defRPr sz="1125" b="0">
                <a:solidFill>
                  <a:srgbClr val="156082"/>
                </a:solidFill>
              </a:defRPr>
            </a:lvl1pPr>
            <a:lvl2pPr algn="l">
              <a:defRPr sz="1125" b="0">
                <a:solidFill>
                  <a:srgbClr val="156082"/>
                </a:solidFill>
              </a:defRPr>
            </a:lvl2pPr>
            <a:lvl3pPr algn="l">
              <a:defRPr sz="1125" b="0">
                <a:solidFill>
                  <a:srgbClr val="156082"/>
                </a:solidFill>
              </a:defRPr>
            </a:lvl3pPr>
            <a:lvl4pPr algn="l">
              <a:defRPr sz="1125" b="0">
                <a:solidFill>
                  <a:srgbClr val="156082"/>
                </a:solidFill>
              </a:defRPr>
            </a:lvl4pPr>
            <a:lvl5pPr algn="l">
              <a:defRPr sz="1125" b="0">
                <a:solidFill>
                  <a:srgbClr val="156082"/>
                </a:solidFill>
              </a:defRPr>
            </a:lvl5pPr>
            <a:lvl6pPr algn="l">
              <a:defRPr sz="1125" b="0">
                <a:solidFill>
                  <a:srgbClr val="156082"/>
                </a:solidFill>
              </a:defRPr>
            </a:lvl6pPr>
            <a:lvl7pPr algn="l">
              <a:defRPr sz="1125" b="0">
                <a:solidFill>
                  <a:srgbClr val="156082"/>
                </a:solidFill>
              </a:defRPr>
            </a:lvl7pPr>
            <a:lvl8pPr algn="l">
              <a:defRPr sz="1125" b="0">
                <a:solidFill>
                  <a:srgbClr val="156082"/>
                </a:solidFill>
              </a:defRPr>
            </a:lvl8pPr>
            <a:lvl9pPr algn="l">
              <a:defRPr sz="1125" b="0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56082"/>
                </a:solidFill>
              </a:defRPr>
            </a:pPr>
            <a:r>
              <a:rPr sz="1125" b="0">
                <a:solidFill>
                  <a:srgbClr val="156082"/>
                </a:solidFill>
              </a:rPr>
              <a:t>k 단위: A m⁻² (m³ mol⁻¹)¹·⁵   |   비교 시 OCP에 맞는 cₛ,max와 전극 기하를 함께 적용</a:t>
            </a:r>
          </a:p>
        </p:txBody>
      </p:sp>
    </p:spTree>
    <p:extLst>
      <p:ext uri="{BB962C8B-B14F-4D97-AF65-F5344CB8AC3E}">
        <p14:creationId xmlns:p14="http://schemas.microsoft.com/office/powerpoint/2010/main" val="2387754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810D7-D47A-49A8-BF7B-C98AB32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F3F9E-9014-4CC4-B6CA-07A257C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E7ED0-2375-4799-BBC9-28870B54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A4. 음극 N3+N4 local-minimum 적분과 kₙ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260E2-0502-49C0-B3D5-AFA68EA3B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81b3cc2894272"/>
          <a:stretch xmlns:a="http://schemas.openxmlformats.org/drawingml/2006/main"/>
        </p:blipFill>
        <p:spPr>
          <a:xfrm xmlns:a="http://schemas.openxmlformats.org/drawingml/2006/main">
            <a:off x="400050" y="1650206"/>
            <a:ext cx="5410200" cy="3043238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CDC37-30CD-490F-8727-B2AC7F674013}"/>
              </a:ext>
            </a:extLst>
          </p:cNvPr>
          <p:cNvGraphicFramePr/>
          <p:nvPr/>
        </p:nvGraphicFramePr>
        <p:xfrm>
          <a:off xmlns:a="http://schemas.openxmlformats.org/drawingml/2006/main" x="5905500" y="1571625"/>
          <a:ext xmlns:a="http://schemas.openxmlformats.org/drawingml/2006/main" cx="3543300" cy="2838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71650"/>
                <a:gridCol w="1771650"/>
              </a:tblGrid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50% SoC 항목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N4 기여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9.9608 Ω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N3 기여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17.0401 Ω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N3+N4 Rct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27.0009 Ω cm²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EIS 초기 kₙ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6.307602×10⁻⁷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충전 피팅 kₙ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9.702793×10⁻⁷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97702-067B-481D-9534-9CD1E68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887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56082"/>
                </a:solidFill>
              </a:defRPr>
            </a:defPPr>
            <a:lvl1pPr algn="l">
              <a:defRPr sz="1275" b="1">
                <a:solidFill>
                  <a:srgbClr val="156082"/>
                </a:solidFill>
              </a:defRPr>
            </a:lvl1pPr>
            <a:lvl2pPr algn="l">
              <a:defRPr sz="1275" b="1">
                <a:solidFill>
                  <a:srgbClr val="156082"/>
                </a:solidFill>
              </a:defRPr>
            </a:lvl2pPr>
            <a:lvl3pPr algn="l">
              <a:defRPr sz="1275" b="1">
                <a:solidFill>
                  <a:srgbClr val="156082"/>
                </a:solidFill>
              </a:defRPr>
            </a:lvl3pPr>
            <a:lvl4pPr algn="l">
              <a:defRPr sz="1275" b="1">
                <a:solidFill>
                  <a:srgbClr val="156082"/>
                </a:solidFill>
              </a:defRPr>
            </a:lvl4pPr>
            <a:lvl5pPr algn="l">
              <a:defRPr sz="1275" b="1">
                <a:solidFill>
                  <a:srgbClr val="156082"/>
                </a:solidFill>
              </a:defRPr>
            </a:lvl5pPr>
            <a:lvl6pPr algn="l">
              <a:defRPr sz="1275" b="1">
                <a:solidFill>
                  <a:srgbClr val="156082"/>
                </a:solidFill>
              </a:defRPr>
            </a:lvl6pPr>
            <a:lvl7pPr algn="l">
              <a:defRPr sz="1275" b="1">
                <a:solidFill>
                  <a:srgbClr val="156082"/>
                </a:solidFill>
              </a:defRPr>
            </a:lvl7pPr>
            <a:lvl8pPr algn="l">
              <a:defRPr sz="1275" b="1">
                <a:solidFill>
                  <a:srgbClr val="156082"/>
                </a:solidFill>
              </a:defRPr>
            </a:lvl8pPr>
            <a:lvl9pPr algn="l">
              <a:defRPr sz="1275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옛 N2/N3 ↔ 현재 N3/N4: 고주파 접촉 피크를 현재 N1로 따로 표기한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C6CA-1B01-40E6-AB3A-FD060C9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B84426"/>
                </a:solidFill>
              </a:defRPr>
            </a:defPPr>
            <a:lvl1pPr algn="l">
              <a:defRPr sz="1200" b="1">
                <a:solidFill>
                  <a:srgbClr val="B84426"/>
                </a:solidFill>
              </a:defRPr>
            </a:lvl1pPr>
            <a:lvl2pPr algn="l">
              <a:defRPr sz="1200" b="1">
                <a:solidFill>
                  <a:srgbClr val="B84426"/>
                </a:solidFill>
              </a:defRPr>
            </a:lvl2pPr>
            <a:lvl3pPr algn="l">
              <a:defRPr sz="1200" b="1">
                <a:solidFill>
                  <a:srgbClr val="B84426"/>
                </a:solidFill>
              </a:defRPr>
            </a:lvl3pPr>
            <a:lvl4pPr algn="l">
              <a:defRPr sz="1200" b="1">
                <a:solidFill>
                  <a:srgbClr val="B84426"/>
                </a:solidFill>
              </a:defRPr>
            </a:lvl4pPr>
            <a:lvl5pPr algn="l">
              <a:defRPr sz="1200" b="1">
                <a:solidFill>
                  <a:srgbClr val="B84426"/>
                </a:solidFill>
              </a:defRPr>
            </a:lvl5pPr>
            <a:lvl6pPr algn="l">
              <a:defRPr sz="1200" b="1">
                <a:solidFill>
                  <a:srgbClr val="B84426"/>
                </a:solidFill>
              </a:defRPr>
            </a:lvl6pPr>
            <a:lvl7pPr algn="l">
              <a:defRPr sz="1200" b="1">
                <a:solidFill>
                  <a:srgbClr val="B84426"/>
                </a:solidFill>
              </a:defRPr>
            </a:lvl7pPr>
            <a:lvl8pPr algn="l">
              <a:defRPr sz="1200" b="1">
                <a:solidFill>
                  <a:srgbClr val="B84426"/>
                </a:solidFill>
              </a:defRPr>
            </a:lvl8pPr>
            <a:lvl9pPr algn="l">
              <a:defRPr sz="120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4426"/>
                </a:solidFill>
              </a:defRPr>
            </a:pPr>
            <a:r>
              <a:rPr sz="1200" b="1">
                <a:solidFill>
                  <a:srgbClr val="B84426"/>
                </a:solidFill>
              </a:rPr>
              <a:t>골 위치는 smoothing으로 탐색하고, 원본 γ를 ln f에 대해 적분. 음극 half-cell Rct는 초기값이며 확정 물성으로 해석하지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599736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9AFD1-FB24-4C70-8921-09F2C443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BAB7-A136-476A-92A4-8E6E31F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077AE-5E4A-4FA7-95C9-ADDB9CF0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A5. ORegan2022 전해질 이식과 최적화 방식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3C5D-D77E-4712-8880-9A09553FF046}"/>
              </a:ext>
            </a:extLst>
          </p:cNvPr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885825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29125"/>
                <a:gridCol w="4429125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ORegan2022에서 이식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대상 셀 값으로 유지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Dₑ(cₑ,T), κₑ(cₑ,T)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전극 OCP · stoichiometry window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</a:rPr>
                        <a:t>t₊(cₑ,T), χ(cₑ,T), 초기 cₑ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</a:rPr>
                        <a:t>기하 · cₛ,max · GITT Dₛ · EIS k 초기값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4FD47-0A5D-4336-B962-12167E8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56082"/>
                </a:solidFill>
              </a:defRPr>
            </a:defPPr>
            <a:lvl1pPr algn="l">
              <a:defRPr sz="1350" b="1">
                <a:solidFill>
                  <a:srgbClr val="156082"/>
                </a:solidFill>
              </a:defRPr>
            </a:lvl1pPr>
            <a:lvl2pPr algn="l">
              <a:defRPr sz="1350" b="1">
                <a:solidFill>
                  <a:srgbClr val="156082"/>
                </a:solidFill>
              </a:defRPr>
            </a:lvl2pPr>
            <a:lvl3pPr algn="l">
              <a:defRPr sz="1350" b="1">
                <a:solidFill>
                  <a:srgbClr val="156082"/>
                </a:solidFill>
              </a:defRPr>
            </a:lvl3pPr>
            <a:lvl4pPr algn="l">
              <a:defRPr sz="1350" b="1">
                <a:solidFill>
                  <a:srgbClr val="156082"/>
                </a:solidFill>
              </a:defRPr>
            </a:lvl4pPr>
            <a:lvl5pPr algn="l">
              <a:defRPr sz="1350" b="1">
                <a:solidFill>
                  <a:srgbClr val="156082"/>
                </a:solidFill>
              </a:defRPr>
            </a:lvl5pPr>
            <a:lvl6pPr algn="l">
              <a:defRPr sz="1350" b="1">
                <a:solidFill>
                  <a:srgbClr val="156082"/>
                </a:solidFill>
              </a:defRPr>
            </a:lvl6pPr>
            <a:lvl7pPr algn="l">
              <a:defRPr sz="1350" b="1">
                <a:solidFill>
                  <a:srgbClr val="156082"/>
                </a:solidFill>
              </a:defRPr>
            </a:lvl7pPr>
            <a:lvl8pPr algn="l">
              <a:defRPr sz="1350" b="1">
                <a:solidFill>
                  <a:srgbClr val="156082"/>
                </a:solidFill>
              </a:defRPr>
            </a:lvl8pPr>
            <a:lvl9pPr algn="l">
              <a:defRPr sz="13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6082"/>
                </a:solidFill>
              </a:defRPr>
            </a:pPr>
            <a:r>
              <a:rPr sz="1350" b="1">
                <a:solidFill>
                  <a:srgbClr val="156082"/>
                </a:solidFill>
              </a:rPr>
              <a:t>ORegan2022 전체 파라미터셋이 아니라 전해질 벌크 함수 5개만 이식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44BF9-118F-4061-AD9A-15A00894E315}"/>
              </a:ext>
            </a:extLst>
          </p:cNvPr>
          <p:cNvGraphicFramePr/>
          <p:nvPr/>
        </p:nvGraphicFramePr>
        <p:xfrm>
          <a:off xmlns:a="http://schemas.openxmlformats.org/drawingml/2006/main" x="552450" y="3962400"/>
          <a:ext xmlns:a="http://schemas.openxmlformats.org/drawingml/2006/main" cx="8801100" cy="1971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33700"/>
                <a:gridCol w="2933700"/>
                <a:gridCol w="2933700"/>
              </a:tblGrid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피팅 구분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10/20 과거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현재 선정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학습 데이터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충전+방전 6곡선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충전 3곡선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검증 데이터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독립 방전 없음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방전 3곡선 보류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변수 / 탐색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kₙ+bₙ / PSO 7×7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bₙ=2.5, kₙ / bounded scalar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62626"/>
                          </a:solidFill>
                        </a:rPr>
                        <a:t>kₚ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5.89952×10⁻⁷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62626"/>
                          </a:solidFill>
                        </a:rPr>
                        <a:t>4.768216×10⁻⁷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F0C07-787A-4530-A2E9-115D558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882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B84426"/>
                </a:solidFill>
              </a:defRPr>
            </a:defPPr>
            <a:lvl1pPr algn="l">
              <a:defRPr sz="1050" b="1">
                <a:solidFill>
                  <a:srgbClr val="B84426"/>
                </a:solidFill>
              </a:defRPr>
            </a:lvl1pPr>
            <a:lvl2pPr algn="l">
              <a:defRPr sz="1050" b="1">
                <a:solidFill>
                  <a:srgbClr val="B84426"/>
                </a:solidFill>
              </a:defRPr>
            </a:lvl2pPr>
            <a:lvl3pPr algn="l">
              <a:defRPr sz="1050" b="1">
                <a:solidFill>
                  <a:srgbClr val="B84426"/>
                </a:solidFill>
              </a:defRPr>
            </a:lvl3pPr>
            <a:lvl4pPr algn="l">
              <a:defRPr sz="1050" b="1">
                <a:solidFill>
                  <a:srgbClr val="B84426"/>
                </a:solidFill>
              </a:defRPr>
            </a:lvl4pPr>
            <a:lvl5pPr algn="l">
              <a:defRPr sz="1050" b="1">
                <a:solidFill>
                  <a:srgbClr val="B84426"/>
                </a:solidFill>
              </a:defRPr>
            </a:lvl5pPr>
            <a:lvl6pPr algn="l">
              <a:defRPr sz="1050" b="1">
                <a:solidFill>
                  <a:srgbClr val="B84426"/>
                </a:solidFill>
              </a:defRPr>
            </a:lvl6pPr>
            <a:lvl7pPr algn="l">
              <a:defRPr sz="1050" b="1">
                <a:solidFill>
                  <a:srgbClr val="B84426"/>
                </a:solidFill>
              </a:defRPr>
            </a:lvl7pPr>
            <a:lvl8pPr algn="l">
              <a:defRPr sz="1050" b="1">
                <a:solidFill>
                  <a:srgbClr val="B84426"/>
                </a:solidFill>
              </a:defRPr>
            </a:lvl8pPr>
            <a:lvl9pPr algn="l">
              <a:defRPr sz="1050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4426"/>
                </a:solidFill>
              </a:defRPr>
            </a:pPr>
            <a:r>
              <a:rPr sz="1050" b="1">
                <a:solidFill>
                  <a:srgbClr val="B84426"/>
                </a:solidFill>
              </a:rPr>
              <a:t>현재 조기 종료 벌점(300 mV×시간 부족률)은 경험적 가중치. 중앙 SoC 악화 원인 검토 및 반복성 기반 비용함수 개선이 후속 과제.</a:t>
            </a:r>
          </a:p>
        </p:txBody>
      </p:sp>
    </p:spTree>
    <p:extLst>
      <p:ext uri="{BB962C8B-B14F-4D97-AF65-F5344CB8AC3E}">
        <p14:creationId xmlns:p14="http://schemas.microsoft.com/office/powerpoint/2010/main" val="13841038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4A660-B06C-406D-8E51-20616EF8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900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</a:defRPr>
            </a:defPPr>
            <a:lvl1pPr algn="l">
              <a:defRPr sz="2250" b="1">
                <a:solidFill>
                  <a:srgbClr val="262626"/>
                </a:solidFill>
              </a:defRPr>
            </a:lvl1pPr>
            <a:lvl2pPr algn="l">
              <a:defRPr sz="2250" b="1">
                <a:solidFill>
                  <a:srgbClr val="262626"/>
                </a:solidFill>
              </a:defRPr>
            </a:lvl2pPr>
            <a:lvl3pPr algn="l">
              <a:defRPr sz="2250" b="1">
                <a:solidFill>
                  <a:srgbClr val="262626"/>
                </a:solidFill>
              </a:defRPr>
            </a:lvl3pPr>
            <a:lvl4pPr algn="l">
              <a:defRPr sz="2250" b="1">
                <a:solidFill>
                  <a:srgbClr val="262626"/>
                </a:solidFill>
              </a:defRPr>
            </a:lvl4pPr>
            <a:lvl5pPr algn="l">
              <a:defRPr sz="2250" b="1">
                <a:solidFill>
                  <a:srgbClr val="262626"/>
                </a:solidFill>
              </a:defRPr>
            </a:lvl5pPr>
            <a:lvl6pPr algn="l">
              <a:defRPr sz="2250" b="1">
                <a:solidFill>
                  <a:srgbClr val="262626"/>
                </a:solidFill>
              </a:defRPr>
            </a:lvl6pPr>
            <a:lvl7pPr algn="l">
              <a:defRPr sz="2250" b="1">
                <a:solidFill>
                  <a:srgbClr val="262626"/>
                </a:solidFill>
              </a:defRPr>
            </a:lvl7pPr>
            <a:lvl8pPr algn="l">
              <a:defRPr sz="2250" b="1">
                <a:solidFill>
                  <a:srgbClr val="262626"/>
                </a:solidFill>
              </a:defRPr>
            </a:lvl8pPr>
            <a:lvl9pPr algn="l">
              <a:defRPr sz="2250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</a:defRPr>
            </a:pPr>
            <a:r>
              <a:rPr sz="2250" b="1">
                <a:solidFill>
                  <a:srgbClr val="262626"/>
                </a:solidFill>
              </a:rPr>
              <a:t>Appendix. 파라미터 선정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1A90C-429B-495E-B52D-6D94495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3A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E65C6-8D9F-454F-9744-7B6D540D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901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56082"/>
                </a:solidFill>
              </a:defRPr>
            </a:defPPr>
            <a:lvl1pPr algn="l">
              <a:defRPr sz="1650" b="1">
                <a:solidFill>
                  <a:srgbClr val="156082"/>
                </a:solidFill>
              </a:defRPr>
            </a:lvl1pPr>
            <a:lvl2pPr algn="l">
              <a:defRPr sz="1650" b="1">
                <a:solidFill>
                  <a:srgbClr val="156082"/>
                </a:solidFill>
              </a:defRPr>
            </a:lvl2pPr>
            <a:lvl3pPr algn="l">
              <a:defRPr sz="1650" b="1">
                <a:solidFill>
                  <a:srgbClr val="156082"/>
                </a:solidFill>
              </a:defRPr>
            </a:lvl3pPr>
            <a:lvl4pPr algn="l">
              <a:defRPr sz="1650" b="1">
                <a:solidFill>
                  <a:srgbClr val="156082"/>
                </a:solidFill>
              </a:defRPr>
            </a:lvl4pPr>
            <a:lvl5pPr algn="l">
              <a:defRPr sz="1650" b="1">
                <a:solidFill>
                  <a:srgbClr val="156082"/>
                </a:solidFill>
              </a:defRPr>
            </a:lvl5pPr>
            <a:lvl6pPr algn="l">
              <a:defRPr sz="1650" b="1">
                <a:solidFill>
                  <a:srgbClr val="156082"/>
                </a:solidFill>
              </a:defRPr>
            </a:lvl6pPr>
            <a:lvl7pPr algn="l">
              <a:defRPr sz="1650" b="1">
                <a:solidFill>
                  <a:srgbClr val="156082"/>
                </a:solidFill>
              </a:defRPr>
            </a:lvl7pPr>
            <a:lvl8pPr algn="l">
              <a:defRPr sz="1650" b="1">
                <a:solidFill>
                  <a:srgbClr val="156082"/>
                </a:solidFill>
              </a:defRPr>
            </a:lvl8pPr>
            <a:lvl9pPr algn="l">
              <a:defRPr sz="1650" b="1">
                <a:solidFill>
                  <a:srgbClr val="15608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6082"/>
                </a:solidFill>
              </a:defRPr>
            </a:pPr>
            <a:r>
              <a:rPr sz="1650" b="1">
                <a:solidFill>
                  <a:srgbClr val="156082"/>
                </a:solidFill>
              </a:rPr>
              <a:t>A6. 과거 공동 피팅 대비 음극 전위 변화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68EB8-92D5-493E-ABDF-6C64FD5AA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c1e94a43e4ece"/>
          <a:stretch xmlns:a="http://schemas.openxmlformats.org/drawingml/2006/main"/>
        </p:blipFill>
        <p:spPr>
          <a:xfrm xmlns:a="http://schemas.openxmlformats.org/drawingml/2006/main">
            <a:off x="400050" y="1769086"/>
            <a:ext cx="9096375" cy="2938829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632E1-B768-4CE1-B7B8-0250E622F8D5}"/>
              </a:ext>
            </a:extLst>
          </p:cNvPr>
          <p:cNvGraphicFramePr/>
          <p:nvPr/>
        </p:nvGraphicFramePr>
        <p:xfrm>
          <a:off xmlns:a="http://schemas.openxmlformats.org/drawingml/2006/main" x="1038225" y="5114925"/>
          <a:ext xmlns:a="http://schemas.openxmlformats.org/drawingml/2006/main" cx="7810500" cy="1247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1952625"/>
                <a:gridCol w="1952625"/>
                <a:gridCol w="1952625"/>
              </a:tblGrid>
              <a:tr h="311944">
                <a:tc>
                  <a:txBody>
                    <a:bodyPr/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</a:rPr>
                        <a:t>충전율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</a:rPr>
                        <a:t>과거 최저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</a:rPr>
                        <a:t>현재 최저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</a:rPr>
                        <a:t>변화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262626"/>
                          </a:solidFill>
                        </a:rPr>
                        <a:t>0.5C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+31.43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+36.72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+5.29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262626"/>
                          </a:solidFill>
                        </a:rPr>
                        <a:t>1C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−11.20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−3.33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+7.87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262626"/>
                          </a:solidFill>
                        </a:rPr>
                        <a:t>2C</a:t>
                      </a:r>
                    </a:p>
                  </a:txBody>
                  <a:tcPr marL="38100" marR="38100" marT="9525" marB="95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−59.74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−49.55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262626"/>
                          </a:solidFill>
                        </a:rPr>
                        <a:t>+10.19 mV</a:t>
                      </a:r>
                    </a:p>
                  </a:txBody>
                  <a:tcPr marL="38100" marR="38100" marT="9525" marB="9525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5F181-1B6A-4F83-8FE3-0D84D6DD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57950"/>
            <a:ext cx="896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13" b="1">
                <a:solidFill>
                  <a:srgbClr val="B84426"/>
                </a:solidFill>
              </a:defRPr>
            </a:defPPr>
            <a:lvl1pPr algn="l">
              <a:defRPr sz="1013" b="1">
                <a:solidFill>
                  <a:srgbClr val="B84426"/>
                </a:solidFill>
              </a:defRPr>
            </a:lvl1pPr>
            <a:lvl2pPr algn="l">
              <a:defRPr sz="1013" b="1">
                <a:solidFill>
                  <a:srgbClr val="B84426"/>
                </a:solidFill>
              </a:defRPr>
            </a:lvl2pPr>
            <a:lvl3pPr algn="l">
              <a:defRPr sz="1013" b="1">
                <a:solidFill>
                  <a:srgbClr val="B84426"/>
                </a:solidFill>
              </a:defRPr>
            </a:lvl3pPr>
            <a:lvl4pPr algn="l">
              <a:defRPr sz="1013" b="1">
                <a:solidFill>
                  <a:srgbClr val="B84426"/>
                </a:solidFill>
              </a:defRPr>
            </a:lvl4pPr>
            <a:lvl5pPr algn="l">
              <a:defRPr sz="1013" b="1">
                <a:solidFill>
                  <a:srgbClr val="B84426"/>
                </a:solidFill>
              </a:defRPr>
            </a:lvl5pPr>
            <a:lvl6pPr algn="l">
              <a:defRPr sz="1013" b="1">
                <a:solidFill>
                  <a:srgbClr val="B84426"/>
                </a:solidFill>
              </a:defRPr>
            </a:lvl6pPr>
            <a:lvl7pPr algn="l">
              <a:defRPr sz="1013" b="1">
                <a:solidFill>
                  <a:srgbClr val="B84426"/>
                </a:solidFill>
              </a:defRPr>
            </a:lvl7pPr>
            <a:lvl8pPr algn="l">
              <a:defRPr sz="1013" b="1">
                <a:solidFill>
                  <a:srgbClr val="B84426"/>
                </a:solidFill>
              </a:defRPr>
            </a:lvl8pPr>
            <a:lvl9pPr algn="l">
              <a:defRPr sz="1013" b="1">
                <a:solidFill>
                  <a:srgbClr val="B84426"/>
                </a:solidFill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B84426"/>
                </a:solidFill>
              </a:defRPr>
            </a:pPr>
            <a:r>
              <a:rPr sz="1013" b="1">
                <a:solidFill>
                  <a:srgbClr val="B84426"/>
                </a:solidFill>
              </a:rPr>
              <a:t>같은 SoC 전위 상승은 주로 kₙ 증가·bₙ 감소에 기인; kₚ 변화는 주로 컷오프 시점에 작용.</a:t>
            </a:r>
          </a:p>
        </p:txBody>
      </p:sp>
    </p:spTree>
    <p:extLst>
      <p:ext uri="{BB962C8B-B14F-4D97-AF65-F5344CB8AC3E}">
        <p14:creationId xmlns:p14="http://schemas.microsoft.com/office/powerpoint/2010/main" val="310762468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6CD2B35-DD3B-128C-7F8B-644B313BEF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D38CB31-C1B2-0212-F20E-FC0AADF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768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94CA6FD-6FA1-03BE-9478-941077D6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27484"/>
            <a:ext cx="9906000" cy="271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39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충전 프로토콜 최적화 결과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BA2B8C3D-E5C1-4D8D-BB46-FE222E9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3" y="1351721"/>
            <a:ext cx="395840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84E6CCC3-FAB3-43BC-AE1F-E052E95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4" y="5246452"/>
            <a:ext cx="38987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C1E3E37-44A8-D850-8127-709BD538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59" y="6489844"/>
            <a:ext cx="9534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IESL</a:t>
            </a:r>
            <a:endParaRPr b="1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4B36A8-1104-736E-C2A7-CAC007E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87" y="723479"/>
            <a:ext cx="256703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Research 2</a:t>
            </a:r>
            <a:r>
              <a:rPr sz="32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  <a:endParaRPr sz="3200" b="1" u="sng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141045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3440E3C-2B8B-1CD8-309A-1FB20D0A0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6006838-5D12-60F3-8D34-063EB04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768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DC1E33A-D4E0-B8E9-EEB1-FDCE3CF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27484"/>
            <a:ext cx="9906000" cy="271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39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온라인 적용성을 고려한 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PIML Input Data 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설계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AD02EAE3-4B78-41EB-A692-29A4184A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3" y="1351721"/>
            <a:ext cx="395840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494F8C25-14B2-4DE0-906C-0ED22BA7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4" y="5246452"/>
            <a:ext cx="38987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1CEA733-972F-56F5-B86D-3BCF3D32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59" y="6489844"/>
            <a:ext cx="9534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IESL</a:t>
            </a:r>
            <a:endParaRPr b="1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E5B969-43A3-E57B-0038-798F200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87" y="723479"/>
            <a:ext cx="256703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Research 3</a:t>
            </a:r>
            <a:r>
              <a:rPr sz="32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  <a:endParaRPr sz="3200" b="1" u="sng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859277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D5FAB30-5A39-C619-0E4F-9D0CCBCFAD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18B9557-A102-3600-EA0B-DC03DAD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768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4C987E6-DFE4-A40D-7828-D109C35D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27484"/>
            <a:ext cx="9906000" cy="271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39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특허 제안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신규성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진보성</a:t>
            </a:r>
            <a:r>
              <a:rPr sz="36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)</a:t>
            </a:r>
            <a:endParaRPr sz="3600" b="1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8713BECD-71E5-42A4-8FAC-9F5F3FB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3" y="1351721"/>
            <a:ext cx="395840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07C16998-AFA0-470C-A83C-ABE44BE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154" y="5246452"/>
            <a:ext cx="38987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645F13-A803-DC55-9DC2-A242F85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059" y="6489844"/>
            <a:ext cx="95349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IESL</a:t>
            </a:r>
            <a:endParaRPr b="1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D08A337-6A31-A9B9-3279-B5DA391A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87" y="723479"/>
            <a:ext cx="256703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Research 4</a:t>
            </a:r>
            <a:r>
              <a:rPr sz="3200" b="1" u="sng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  <a:endParaRPr sz="3200" b="1" u="sng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06844070"/>
      </p:ext>
    </p:extLst>
  </p:cSld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2026-10-21T03:38:40.8630000Z</dcterms:created>
  <dcterms:modified xsi:type="dcterms:W3CDTF">2026-10-21T03:38:40.8630000Z</dcterms:modified>
</coreProperties>
</file>